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eorgia Bold" charset="1" panose="02040802050405020203"/>
      <p:regular r:id="rId27"/>
    </p:embeddedFont>
    <p:embeddedFont>
      <p:font typeface="Calibri (MS)" charset="1" panose="020F0502020204030204"/>
      <p:regular r:id="rId28"/>
    </p:embeddedFont>
    <p:embeddedFont>
      <p:font typeface="Calibri (MS) Italics" charset="1" panose="020F05020202040A0204"/>
      <p:regular r:id="rId32"/>
    </p:embeddedFont>
    <p:embeddedFont>
      <p:font typeface="Calibri (MS) Bold Italics" charset="1" panose="020F07020304040A0204"/>
      <p:regular r:id="rId33"/>
    </p:embeddedFont>
    <p:embeddedFont>
      <p:font typeface="Calibri (MS) Bold" charset="1" panose="020F070203040403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Relationship Id="rId4" Target="../media/image2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3.png" Type="http://schemas.openxmlformats.org/officeDocument/2006/relationships/image"/><Relationship Id="rId4" Target="../media/image2.jpe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3.png" Type="http://schemas.openxmlformats.org/officeDocument/2006/relationships/image"/><Relationship Id="rId4" Target="../media/image2.jpe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87200" y="-4572000"/>
            <a:ext cx="12801600" cy="12801600"/>
            <a:chOff x="0" y="0"/>
            <a:chExt cx="17068800" cy="1706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17068800"/>
            </a:xfrm>
            <a:custGeom>
              <a:avLst/>
              <a:gdLst/>
              <a:ahLst/>
              <a:cxnLst/>
              <a:rect r="r" b="b" t="t" l="l"/>
              <a:pathLst>
                <a:path h="17068800" w="17068800">
                  <a:moveTo>
                    <a:pt x="0" y="8534400"/>
                  </a:moveTo>
                  <a:cubicBezTo>
                    <a:pt x="0" y="3820922"/>
                    <a:pt x="3820922" y="0"/>
                    <a:pt x="8534400" y="0"/>
                  </a:cubicBezTo>
                  <a:cubicBezTo>
                    <a:pt x="13247878" y="0"/>
                    <a:pt x="17068800" y="3820922"/>
                    <a:pt x="17068800" y="8534400"/>
                  </a:cubicBezTo>
                  <a:cubicBezTo>
                    <a:pt x="17068800" y="13247878"/>
                    <a:pt x="13247878" y="17068800"/>
                    <a:pt x="8534400" y="17068800"/>
                  </a:cubicBezTo>
                  <a:cubicBezTo>
                    <a:pt x="3820922" y="17068800"/>
                    <a:pt x="0" y="13247878"/>
                    <a:pt x="0" y="8534400"/>
                  </a:cubicBezTo>
                  <a:close/>
                </a:path>
              </a:pathLst>
            </a:custGeom>
            <a:solidFill>
              <a:srgbClr val="0D9488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-2743200"/>
            <a:ext cx="9144000" cy="9144000"/>
            <a:chOff x="0" y="0"/>
            <a:chExt cx="12192000" cy="1219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14B8A6">
                <a:alpha val="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1280160"/>
            <a:ext cx="1280160" cy="1280160"/>
            <a:chOff x="0" y="0"/>
            <a:chExt cx="1706880" cy="170688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0160" y="2926080"/>
            <a:ext cx="13716000" cy="2743200"/>
            <a:chOff x="0" y="0"/>
            <a:chExt cx="1828800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288000" cy="3733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Project 2</a:t>
              </a:r>
            </a:p>
            <a:p>
              <a:pPr algn="l">
                <a:lnSpc>
                  <a:spcPts val="6468"/>
                </a:lnSpc>
              </a:pPr>
              <a:r>
                <a:rPr lang="en-US" sz="49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Reinforcement learning for path finding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0160" y="5760720"/>
            <a:ext cx="12801600" cy="731520"/>
            <a:chOff x="0" y="0"/>
            <a:chExt cx="170688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7068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 European University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0160" y="6766560"/>
            <a:ext cx="4572000" cy="73152"/>
            <a:chOff x="0" y="0"/>
            <a:chExt cx="6096000" cy="97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" y="7223760"/>
            <a:ext cx="14630400" cy="640080"/>
            <a:chOff x="0" y="0"/>
            <a:chExt cx="195072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0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507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David Diestre Rubio  •  Juan Roset Moreno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0160" y="8046720"/>
            <a:ext cx="14630400" cy="548640"/>
            <a:chOff x="0" y="0"/>
            <a:chExt cx="195072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507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  |  Winter 2026  |  Nysret Musliu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Presentation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011680"/>
            <a:ext cx="5120640" cy="6949440"/>
            <a:chOff x="0" y="0"/>
            <a:chExt cx="6827520" cy="926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011680"/>
            <a:ext cx="5120640" cy="109728"/>
            <a:chOff x="0" y="0"/>
            <a:chExt cx="6827520" cy="1463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463040" y="2560320"/>
            <a:ext cx="774095" cy="548640"/>
          </a:xfrm>
          <a:custGeom>
            <a:avLst/>
            <a:gdLst/>
            <a:ahLst/>
            <a:cxnLst/>
            <a:rect r="r" b="b" t="t" l="l"/>
            <a:pathLst>
              <a:path h="548640" w="774095">
                <a:moveTo>
                  <a:pt x="0" y="0"/>
                </a:moveTo>
                <a:lnTo>
                  <a:pt x="774095" y="0"/>
                </a:lnTo>
                <a:lnTo>
                  <a:pt x="774095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63040" y="3474720"/>
            <a:ext cx="4389120" cy="731520"/>
            <a:chOff x="0" y="0"/>
            <a:chExt cx="58521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8521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Algorithm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66560" y="2011680"/>
            <a:ext cx="5120640" cy="6949440"/>
            <a:chOff x="0" y="0"/>
            <a:chExt cx="6827520" cy="926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6560" y="2011680"/>
            <a:ext cx="5120640" cy="109728"/>
            <a:chOff x="0" y="0"/>
            <a:chExt cx="6827520" cy="146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7268146" y="2464308"/>
            <a:ext cx="502443" cy="763380"/>
          </a:xfrm>
          <a:custGeom>
            <a:avLst/>
            <a:gdLst/>
            <a:ahLst/>
            <a:cxnLst/>
            <a:rect r="r" b="b" t="t" l="l"/>
            <a:pathLst>
              <a:path h="763380" w="502443">
                <a:moveTo>
                  <a:pt x="0" y="0"/>
                </a:moveTo>
                <a:lnTo>
                  <a:pt x="502443" y="0"/>
                </a:lnTo>
                <a:lnTo>
                  <a:pt x="502443" y="763380"/>
                </a:lnTo>
                <a:lnTo>
                  <a:pt x="0" y="763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132320" y="3474720"/>
            <a:ext cx="4389120" cy="731520"/>
            <a:chOff x="0" y="0"/>
            <a:chExt cx="585216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8521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Path Finding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35840" y="2011680"/>
            <a:ext cx="5120640" cy="6949440"/>
            <a:chOff x="0" y="0"/>
            <a:chExt cx="6827520" cy="926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35840" y="2011680"/>
            <a:ext cx="5120640" cy="109728"/>
            <a:chOff x="0" y="0"/>
            <a:chExt cx="6827520" cy="1463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01600" y="2464308"/>
            <a:ext cx="731520" cy="731520"/>
            <a:chOff x="0" y="0"/>
            <a:chExt cx="975360" cy="97536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801600" y="3474720"/>
            <a:ext cx="4389120" cy="731520"/>
            <a:chOff x="0" y="0"/>
            <a:chExt cx="58521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85216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Results &amp; Discussion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801600" y="4341495"/>
            <a:ext cx="438912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Results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Found paths and Runtimes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Discussion &amp; Lessons learned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63040" y="4341495"/>
            <a:ext cx="43891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Repository organization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Monte Carlo Control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On-policy first-visit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7132320" y="4341495"/>
            <a:ext cx="438912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3 Different Grids</a:t>
            </a:r>
          </a:p>
          <a:p>
            <a:pPr algn="l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1 Target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Obstacles and walls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01600" y="-1828800"/>
            <a:ext cx="9144000" cy="9144000"/>
            <a:chOff x="0" y="0"/>
            <a:chExt cx="12192000" cy="1219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0D9488">
                <a:alpha val="117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4023360"/>
            <a:ext cx="14630400" cy="1463040"/>
            <a:chOff x="0" y="0"/>
            <a:chExt cx="19507200" cy="1950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5072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Section I: Our algorithm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0160" y="5486400"/>
            <a:ext cx="12801600" cy="914400"/>
            <a:chOff x="0" y="0"/>
            <a:chExt cx="170688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068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Repository, approach and RL model used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 •  Machine Learning (Advanced)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80160" y="3062783"/>
            <a:ext cx="1097280" cy="777697"/>
          </a:xfrm>
          <a:custGeom>
            <a:avLst/>
            <a:gdLst/>
            <a:ahLst/>
            <a:cxnLst/>
            <a:rect r="r" b="b" t="t" l="l"/>
            <a:pathLst>
              <a:path h="777697" w="1097280">
                <a:moveTo>
                  <a:pt x="0" y="0"/>
                </a:moveTo>
                <a:lnTo>
                  <a:pt x="1097280" y="0"/>
                </a:lnTo>
                <a:lnTo>
                  <a:pt x="1097280" y="777697"/>
                </a:lnTo>
                <a:lnTo>
                  <a:pt x="0" y="777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GitHub Repository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0" y="438721"/>
            <a:ext cx="967413" cy="967413"/>
            <a:chOff x="0" y="0"/>
            <a:chExt cx="1706880" cy="170688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663289" y="1735128"/>
            <a:ext cx="7355207" cy="7523172"/>
            <a:chOff x="0" y="0"/>
            <a:chExt cx="770304" cy="7878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0304" cy="787895"/>
            </a:xfrm>
            <a:custGeom>
              <a:avLst/>
              <a:gdLst/>
              <a:ahLst/>
              <a:cxnLst/>
              <a:rect r="r" b="b" t="t" l="l"/>
              <a:pathLst>
                <a:path h="787895" w="770304">
                  <a:moveTo>
                    <a:pt x="22104" y="0"/>
                  </a:moveTo>
                  <a:lnTo>
                    <a:pt x="748200" y="0"/>
                  </a:lnTo>
                  <a:cubicBezTo>
                    <a:pt x="760408" y="0"/>
                    <a:pt x="770304" y="9896"/>
                    <a:pt x="770304" y="22104"/>
                  </a:cubicBezTo>
                  <a:lnTo>
                    <a:pt x="770304" y="765791"/>
                  </a:lnTo>
                  <a:cubicBezTo>
                    <a:pt x="770304" y="771653"/>
                    <a:pt x="767976" y="777276"/>
                    <a:pt x="763830" y="781421"/>
                  </a:cubicBezTo>
                  <a:cubicBezTo>
                    <a:pt x="759685" y="785566"/>
                    <a:pt x="754063" y="787895"/>
                    <a:pt x="748200" y="787895"/>
                  </a:cubicBezTo>
                  <a:lnTo>
                    <a:pt x="22104" y="787895"/>
                  </a:lnTo>
                  <a:cubicBezTo>
                    <a:pt x="16242" y="787895"/>
                    <a:pt x="10619" y="785566"/>
                    <a:pt x="6474" y="781421"/>
                  </a:cubicBezTo>
                  <a:cubicBezTo>
                    <a:pt x="2329" y="777276"/>
                    <a:pt x="0" y="771653"/>
                    <a:pt x="0" y="765791"/>
                  </a:cubicBezTo>
                  <a:lnTo>
                    <a:pt x="0" y="22104"/>
                  </a:lnTo>
                  <a:cubicBezTo>
                    <a:pt x="0" y="9896"/>
                    <a:pt x="9896" y="0"/>
                    <a:pt x="221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70304" cy="816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81268" y="4037811"/>
            <a:ext cx="4719249" cy="2619486"/>
            <a:chOff x="0" y="0"/>
            <a:chExt cx="1242930" cy="6899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2930" cy="689906"/>
            </a:xfrm>
            <a:custGeom>
              <a:avLst/>
              <a:gdLst/>
              <a:ahLst/>
              <a:cxnLst/>
              <a:rect r="r" b="b" t="t" l="l"/>
              <a:pathLst>
                <a:path h="689906" w="1242930">
                  <a:moveTo>
                    <a:pt x="36091" y="0"/>
                  </a:moveTo>
                  <a:lnTo>
                    <a:pt x="1206839" y="0"/>
                  </a:lnTo>
                  <a:cubicBezTo>
                    <a:pt x="1216411" y="0"/>
                    <a:pt x="1225591" y="3802"/>
                    <a:pt x="1232359" y="10571"/>
                  </a:cubicBezTo>
                  <a:cubicBezTo>
                    <a:pt x="1239127" y="17339"/>
                    <a:pt x="1242930" y="26519"/>
                    <a:pt x="1242930" y="36091"/>
                  </a:cubicBezTo>
                  <a:lnTo>
                    <a:pt x="1242930" y="653815"/>
                  </a:lnTo>
                  <a:cubicBezTo>
                    <a:pt x="1242930" y="663387"/>
                    <a:pt x="1239127" y="672567"/>
                    <a:pt x="1232359" y="679335"/>
                  </a:cubicBezTo>
                  <a:cubicBezTo>
                    <a:pt x="1225591" y="686103"/>
                    <a:pt x="1216411" y="689906"/>
                    <a:pt x="1206839" y="689906"/>
                  </a:cubicBezTo>
                  <a:lnTo>
                    <a:pt x="36091" y="689906"/>
                  </a:lnTo>
                  <a:cubicBezTo>
                    <a:pt x="26519" y="689906"/>
                    <a:pt x="17339" y="686103"/>
                    <a:pt x="10571" y="679335"/>
                  </a:cubicBezTo>
                  <a:cubicBezTo>
                    <a:pt x="3802" y="672567"/>
                    <a:pt x="0" y="663387"/>
                    <a:pt x="0" y="653815"/>
                  </a:cubicBezTo>
                  <a:lnTo>
                    <a:pt x="0" y="36091"/>
                  </a:lnTo>
                  <a:cubicBezTo>
                    <a:pt x="0" y="26519"/>
                    <a:pt x="3802" y="17339"/>
                    <a:pt x="10571" y="10571"/>
                  </a:cubicBezTo>
                  <a:cubicBezTo>
                    <a:pt x="17339" y="3802"/>
                    <a:pt x="26519" y="0"/>
                    <a:pt x="36091" y="0"/>
                  </a:cubicBezTo>
                  <a:close/>
                </a:path>
              </a:pathLst>
            </a:custGeom>
            <a:solidFill>
              <a:srgbClr val="475569">
                <a:alpha val="1882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1242930" cy="842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58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143216" y="2743497"/>
            <a:ext cx="4395354" cy="613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25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data/grids/</a:t>
            </a:r>
          </a:p>
          <a:p>
            <a:pPr algn="ctr">
              <a:lnSpc>
                <a:spcPts val="2238"/>
              </a:lnSpc>
            </a:pPr>
          </a:p>
          <a:p>
            <a:pPr algn="ctr">
              <a:lnSpc>
                <a:spcPts val="4158"/>
              </a:lnSpc>
            </a:pPr>
          </a:p>
          <a:p>
            <a:pPr algn="ctr">
              <a:lnSpc>
                <a:spcPts val="4158"/>
              </a:lnSpc>
            </a:pPr>
            <a:r>
              <a:rPr lang="en-US" b="true" sz="2599" i="true">
                <a:solidFill>
                  <a:srgbClr val="475569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on_policy_first_visit_mc_rl.py</a:t>
            </a:r>
          </a:p>
          <a:p>
            <a:pPr algn="ctr">
              <a:lnSpc>
                <a:spcPts val="1758"/>
              </a:lnSpc>
            </a:pPr>
          </a:p>
          <a:p>
            <a:pPr algn="ctr">
              <a:lnSpc>
                <a:spcPts val="4158"/>
              </a:lnSpc>
            </a:pPr>
            <a:r>
              <a:rPr lang="en-US" sz="25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environment.py</a:t>
            </a:r>
          </a:p>
          <a:p>
            <a:pPr algn="ctr">
              <a:lnSpc>
                <a:spcPts val="4158"/>
              </a:lnSpc>
            </a:pPr>
          </a:p>
          <a:p>
            <a:pPr algn="ctr">
              <a:lnSpc>
                <a:spcPts val="4158"/>
              </a:lnSpc>
            </a:pPr>
            <a:r>
              <a:rPr lang="en-US" sz="25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policy.py</a:t>
            </a:r>
          </a:p>
          <a:p>
            <a:pPr algn="ctr">
              <a:lnSpc>
                <a:spcPts val="4158"/>
              </a:lnSpc>
            </a:pPr>
          </a:p>
          <a:p>
            <a:pPr algn="ctr">
              <a:lnSpc>
                <a:spcPts val="3038"/>
              </a:lnSpc>
            </a:pPr>
          </a:p>
          <a:p>
            <a:pPr algn="ctr">
              <a:lnSpc>
                <a:spcPts val="4158"/>
              </a:lnSpc>
            </a:pPr>
            <a:r>
              <a:rPr lang="en-US" sz="25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output/</a:t>
            </a:r>
          </a:p>
          <a:p>
            <a:pPr algn="ctr">
              <a:lnSpc>
                <a:spcPts val="4158"/>
              </a:lnSpc>
            </a:pPr>
          </a:p>
          <a:p>
            <a:pPr algn="ctr">
              <a:lnSpc>
                <a:spcPts val="4158"/>
              </a:lnSpc>
            </a:pPr>
            <a:r>
              <a:rPr lang="en-US" sz="25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figures.ipynb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0493" y="1965722"/>
            <a:ext cx="6400800" cy="731520"/>
            <a:chOff x="0" y="0"/>
            <a:chExt cx="853440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5344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Workflow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2056721" y="3527370"/>
            <a:ext cx="568344" cy="203489"/>
            <a:chOff x="0" y="0"/>
            <a:chExt cx="2067015" cy="7400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67015" cy="740069"/>
            </a:xfrm>
            <a:custGeom>
              <a:avLst/>
              <a:gdLst/>
              <a:ahLst/>
              <a:cxnLst/>
              <a:rect r="r" b="b" t="t" l="l"/>
              <a:pathLst>
                <a:path h="740069" w="2067015">
                  <a:moveTo>
                    <a:pt x="1492975" y="0"/>
                  </a:moveTo>
                  <a:lnTo>
                    <a:pt x="1245325" y="0"/>
                  </a:lnTo>
                  <a:lnTo>
                    <a:pt x="1722845" y="308430"/>
                  </a:lnTo>
                  <a:lnTo>
                    <a:pt x="0" y="308430"/>
                  </a:lnTo>
                  <a:lnTo>
                    <a:pt x="0" y="431639"/>
                  </a:lnTo>
                  <a:lnTo>
                    <a:pt x="1722845" y="431639"/>
                  </a:lnTo>
                  <a:lnTo>
                    <a:pt x="1245325" y="740069"/>
                  </a:lnTo>
                  <a:lnTo>
                    <a:pt x="1492975" y="740069"/>
                  </a:lnTo>
                  <a:lnTo>
                    <a:pt x="2067015" y="369627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5400000">
            <a:off x="12056721" y="8084344"/>
            <a:ext cx="568344" cy="203489"/>
            <a:chOff x="0" y="0"/>
            <a:chExt cx="2067015" cy="7400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67015" cy="740069"/>
            </a:xfrm>
            <a:custGeom>
              <a:avLst/>
              <a:gdLst/>
              <a:ahLst/>
              <a:cxnLst/>
              <a:rect r="r" b="b" t="t" l="l"/>
              <a:pathLst>
                <a:path h="740069" w="2067015">
                  <a:moveTo>
                    <a:pt x="1492975" y="0"/>
                  </a:moveTo>
                  <a:lnTo>
                    <a:pt x="1245325" y="0"/>
                  </a:lnTo>
                  <a:lnTo>
                    <a:pt x="1722845" y="308430"/>
                  </a:lnTo>
                  <a:lnTo>
                    <a:pt x="0" y="308430"/>
                  </a:lnTo>
                  <a:lnTo>
                    <a:pt x="0" y="431639"/>
                  </a:lnTo>
                  <a:lnTo>
                    <a:pt x="1722845" y="431639"/>
                  </a:lnTo>
                  <a:lnTo>
                    <a:pt x="1245325" y="740069"/>
                  </a:lnTo>
                  <a:lnTo>
                    <a:pt x="1492975" y="740069"/>
                  </a:lnTo>
                  <a:lnTo>
                    <a:pt x="2067015" y="369627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488454" y="1735128"/>
            <a:ext cx="6403915" cy="7502543"/>
          </a:xfrm>
          <a:custGeom>
            <a:avLst/>
            <a:gdLst/>
            <a:ahLst/>
            <a:cxnLst/>
            <a:rect r="r" b="b" t="t" l="l"/>
            <a:pathLst>
              <a:path h="7502543" w="6403915">
                <a:moveTo>
                  <a:pt x="0" y="0"/>
                </a:moveTo>
                <a:lnTo>
                  <a:pt x="6403915" y="0"/>
                </a:lnTo>
                <a:lnTo>
                  <a:pt x="6403915" y="7502544"/>
                </a:lnTo>
                <a:lnTo>
                  <a:pt x="0" y="7502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909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9600000">
            <a:off x="13002929" y="5517705"/>
            <a:ext cx="594640" cy="600447"/>
            <a:chOff x="0" y="0"/>
            <a:chExt cx="6502400" cy="6565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813" y="0"/>
              <a:ext cx="6497587" cy="6570597"/>
            </a:xfrm>
            <a:custGeom>
              <a:avLst/>
              <a:gdLst/>
              <a:ahLst/>
              <a:cxnLst/>
              <a:rect r="r" b="b" t="t" l="l"/>
              <a:pathLst>
                <a:path h="6570597" w="6497587">
                  <a:moveTo>
                    <a:pt x="6424547" y="147727"/>
                  </a:moveTo>
                  <a:lnTo>
                    <a:pt x="5761405" y="27156"/>
                  </a:lnTo>
                  <a:cubicBezTo>
                    <a:pt x="5662034" y="9089"/>
                    <a:pt x="5561240" y="0"/>
                    <a:pt x="5460240" y="0"/>
                  </a:cubicBezTo>
                  <a:lnTo>
                    <a:pt x="5308433" y="0"/>
                  </a:lnTo>
                  <a:cubicBezTo>
                    <a:pt x="5173760" y="0"/>
                    <a:pt x="4836909" y="18656"/>
                    <a:pt x="4703060" y="33528"/>
                  </a:cubicBezTo>
                  <a:lnTo>
                    <a:pt x="4512374" y="54715"/>
                  </a:lnTo>
                  <a:cubicBezTo>
                    <a:pt x="4428969" y="63983"/>
                    <a:pt x="4216013" y="97918"/>
                    <a:pt x="4133859" y="115034"/>
                  </a:cubicBezTo>
                  <a:lnTo>
                    <a:pt x="3898570" y="164052"/>
                  </a:lnTo>
                  <a:cubicBezTo>
                    <a:pt x="3814996" y="181464"/>
                    <a:pt x="3617745" y="236950"/>
                    <a:pt x="3537350" y="265662"/>
                  </a:cubicBezTo>
                  <a:lnTo>
                    <a:pt x="3448796" y="297289"/>
                  </a:lnTo>
                  <a:cubicBezTo>
                    <a:pt x="3409177" y="311438"/>
                    <a:pt x="3313767" y="352153"/>
                    <a:pt x="3276137" y="370968"/>
                  </a:cubicBezTo>
                  <a:lnTo>
                    <a:pt x="3083728" y="467172"/>
                  </a:lnTo>
                  <a:cubicBezTo>
                    <a:pt x="3002224" y="507924"/>
                    <a:pt x="2815284" y="618613"/>
                    <a:pt x="2740363" y="670481"/>
                  </a:cubicBezTo>
                  <a:lnTo>
                    <a:pt x="2658134" y="727409"/>
                  </a:lnTo>
                  <a:cubicBezTo>
                    <a:pt x="2620182" y="753684"/>
                    <a:pt x="2536990" y="821559"/>
                    <a:pt x="2503634" y="853467"/>
                  </a:cubicBezTo>
                  <a:lnTo>
                    <a:pt x="2217160" y="1127484"/>
                  </a:lnTo>
                  <a:cubicBezTo>
                    <a:pt x="2110856" y="1229166"/>
                    <a:pt x="1901230" y="1473462"/>
                    <a:pt x="1816871" y="1593973"/>
                  </a:cubicBezTo>
                  <a:lnTo>
                    <a:pt x="1728317" y="1720479"/>
                  </a:lnTo>
                  <a:cubicBezTo>
                    <a:pt x="1687800" y="1778361"/>
                    <a:pt x="1602301" y="1921909"/>
                    <a:pt x="1570705" y="1985103"/>
                  </a:cubicBezTo>
                  <a:lnTo>
                    <a:pt x="1504028" y="2118453"/>
                  </a:lnTo>
                  <a:cubicBezTo>
                    <a:pt x="1472988" y="2180535"/>
                    <a:pt x="1414153" y="2328033"/>
                    <a:pt x="1393945" y="2394435"/>
                  </a:cubicBezTo>
                  <a:lnTo>
                    <a:pt x="1327094" y="2614083"/>
                  </a:lnTo>
                  <a:cubicBezTo>
                    <a:pt x="1295556" y="2717710"/>
                    <a:pt x="1246853" y="2954264"/>
                    <a:pt x="1234891" y="3061922"/>
                  </a:cubicBezTo>
                  <a:lnTo>
                    <a:pt x="1209617" y="3289391"/>
                  </a:lnTo>
                  <a:cubicBezTo>
                    <a:pt x="1198033" y="3393643"/>
                    <a:pt x="1189106" y="3640747"/>
                    <a:pt x="1193139" y="3745563"/>
                  </a:cubicBezTo>
                  <a:lnTo>
                    <a:pt x="1201391" y="3960128"/>
                  </a:lnTo>
                  <a:cubicBezTo>
                    <a:pt x="1205045" y="4055133"/>
                    <a:pt x="1227177" y="4293050"/>
                    <a:pt x="1241110" y="4387098"/>
                  </a:cubicBezTo>
                  <a:lnTo>
                    <a:pt x="1275979" y="4622461"/>
                  </a:lnTo>
                  <a:cubicBezTo>
                    <a:pt x="1291176" y="4725041"/>
                    <a:pt x="1342473" y="4988277"/>
                    <a:pt x="1366905" y="5089059"/>
                  </a:cubicBezTo>
                  <a:lnTo>
                    <a:pt x="1506593" y="5665270"/>
                  </a:lnTo>
                  <a:cubicBezTo>
                    <a:pt x="1510493" y="5681359"/>
                    <a:pt x="1502763" y="5698010"/>
                    <a:pt x="1487956" y="5705413"/>
                  </a:cubicBezTo>
                  <a:lnTo>
                    <a:pt x="1487956" y="5705413"/>
                  </a:lnTo>
                  <a:cubicBezTo>
                    <a:pt x="1472846" y="5712968"/>
                    <a:pt x="1454597" y="5710006"/>
                    <a:pt x="1442652" y="5698061"/>
                  </a:cubicBezTo>
                  <a:lnTo>
                    <a:pt x="1234944" y="5490354"/>
                  </a:lnTo>
                  <a:cubicBezTo>
                    <a:pt x="1130275" y="5385684"/>
                    <a:pt x="866914" y="5159742"/>
                    <a:pt x="747546" y="5072205"/>
                  </a:cubicBezTo>
                  <a:lnTo>
                    <a:pt x="309408" y="4750903"/>
                  </a:lnTo>
                  <a:cubicBezTo>
                    <a:pt x="269640" y="4721740"/>
                    <a:pt x="221610" y="4706017"/>
                    <a:pt x="172295" y="4706017"/>
                  </a:cubicBezTo>
                  <a:lnTo>
                    <a:pt x="172295" y="4706017"/>
                  </a:lnTo>
                  <a:cubicBezTo>
                    <a:pt x="124875" y="4706017"/>
                    <a:pt x="80592" y="4729716"/>
                    <a:pt x="54288" y="4769172"/>
                  </a:cubicBezTo>
                  <a:lnTo>
                    <a:pt x="13078" y="4830988"/>
                  </a:lnTo>
                  <a:cubicBezTo>
                    <a:pt x="1623" y="4848170"/>
                    <a:pt x="-2538" y="4869200"/>
                    <a:pt x="1512" y="4889450"/>
                  </a:cubicBezTo>
                  <a:lnTo>
                    <a:pt x="7837" y="4921077"/>
                  </a:lnTo>
                  <a:cubicBezTo>
                    <a:pt x="15954" y="4961656"/>
                    <a:pt x="39058" y="4998108"/>
                    <a:pt x="72293" y="5022765"/>
                  </a:cubicBezTo>
                  <a:lnTo>
                    <a:pt x="438558" y="5294511"/>
                  </a:lnTo>
                  <a:cubicBezTo>
                    <a:pt x="604169" y="5417383"/>
                    <a:pt x="983967" y="5740424"/>
                    <a:pt x="1131822" y="5884170"/>
                  </a:cubicBezTo>
                  <a:lnTo>
                    <a:pt x="1630096" y="6368604"/>
                  </a:lnTo>
                  <a:cubicBezTo>
                    <a:pt x="1671357" y="6408720"/>
                    <a:pt x="1768071" y="6484551"/>
                    <a:pt x="1816871" y="6515050"/>
                  </a:cubicBezTo>
                  <a:lnTo>
                    <a:pt x="1867473" y="6546677"/>
                  </a:lnTo>
                  <a:cubicBezTo>
                    <a:pt x="1899807" y="6566885"/>
                    <a:pt x="1939326" y="6574762"/>
                    <a:pt x="1976937" y="6568494"/>
                  </a:cubicBezTo>
                  <a:lnTo>
                    <a:pt x="2023410" y="6560748"/>
                  </a:lnTo>
                  <a:cubicBezTo>
                    <a:pt x="2053180" y="6555786"/>
                    <a:pt x="2080461" y="6539780"/>
                    <a:pt x="2099314" y="6516212"/>
                  </a:cubicBezTo>
                  <a:lnTo>
                    <a:pt x="2135201" y="6471355"/>
                  </a:lnTo>
                  <a:cubicBezTo>
                    <a:pt x="2156135" y="6445186"/>
                    <a:pt x="2174934" y="6402871"/>
                    <a:pt x="2180317" y="6369797"/>
                  </a:cubicBezTo>
                  <a:lnTo>
                    <a:pt x="2267195" y="5836119"/>
                  </a:lnTo>
                  <a:cubicBezTo>
                    <a:pt x="2304176" y="5608949"/>
                    <a:pt x="2430694" y="5077301"/>
                    <a:pt x="2500003" y="4857824"/>
                  </a:cubicBezTo>
                  <a:lnTo>
                    <a:pt x="2627417" y="4454345"/>
                  </a:lnTo>
                  <a:cubicBezTo>
                    <a:pt x="2642661" y="4406073"/>
                    <a:pt x="2632831" y="4353378"/>
                    <a:pt x="2601207" y="4313849"/>
                  </a:cubicBezTo>
                  <a:lnTo>
                    <a:pt x="2601207" y="4313849"/>
                  </a:lnTo>
                  <a:cubicBezTo>
                    <a:pt x="2569223" y="4273869"/>
                    <a:pt x="2520800" y="4250596"/>
                    <a:pt x="2469601" y="4250596"/>
                  </a:cubicBezTo>
                  <a:lnTo>
                    <a:pt x="2400333" y="4250596"/>
                  </a:lnTo>
                  <a:cubicBezTo>
                    <a:pt x="2383150" y="4250596"/>
                    <a:pt x="2366671" y="4257422"/>
                    <a:pt x="2354521" y="4269572"/>
                  </a:cubicBezTo>
                  <a:lnTo>
                    <a:pt x="2335546" y="4288548"/>
                  </a:lnTo>
                  <a:cubicBezTo>
                    <a:pt x="2313728" y="4310365"/>
                    <a:pt x="2290847" y="4348299"/>
                    <a:pt x="2281723" y="4377771"/>
                  </a:cubicBezTo>
                  <a:lnTo>
                    <a:pt x="2006270" y="5267697"/>
                  </a:lnTo>
                  <a:cubicBezTo>
                    <a:pt x="1988314" y="5325709"/>
                    <a:pt x="1962070" y="5455228"/>
                    <a:pt x="1956028" y="5515654"/>
                  </a:cubicBezTo>
                  <a:lnTo>
                    <a:pt x="1946192" y="5614013"/>
                  </a:lnTo>
                  <a:cubicBezTo>
                    <a:pt x="1944440" y="5631535"/>
                    <a:pt x="1933826" y="5646936"/>
                    <a:pt x="1918076" y="5654811"/>
                  </a:cubicBezTo>
                  <a:lnTo>
                    <a:pt x="1908776" y="5659461"/>
                  </a:lnTo>
                  <a:cubicBezTo>
                    <a:pt x="1899220" y="5664239"/>
                    <a:pt x="1887678" y="5662366"/>
                    <a:pt x="1880124" y="5654811"/>
                  </a:cubicBezTo>
                  <a:lnTo>
                    <a:pt x="1867473" y="5642160"/>
                  </a:lnTo>
                  <a:cubicBezTo>
                    <a:pt x="1852173" y="5626861"/>
                    <a:pt x="1839398" y="5602990"/>
                    <a:pt x="1835155" y="5581773"/>
                  </a:cubicBezTo>
                  <a:lnTo>
                    <a:pt x="1700833" y="4910160"/>
                  </a:lnTo>
                  <a:cubicBezTo>
                    <a:pt x="1648550" y="4648747"/>
                    <a:pt x="1582433" y="4049048"/>
                    <a:pt x="1576510" y="3782525"/>
                  </a:cubicBezTo>
                  <a:lnTo>
                    <a:pt x="1570185" y="3497886"/>
                  </a:lnTo>
                  <a:cubicBezTo>
                    <a:pt x="1567070" y="3357695"/>
                    <a:pt x="1595202" y="3072207"/>
                    <a:pt x="1625622" y="2935319"/>
                  </a:cubicBezTo>
                  <a:lnTo>
                    <a:pt x="1670643" y="2732719"/>
                  </a:lnTo>
                  <a:cubicBezTo>
                    <a:pt x="1692536" y="2634206"/>
                    <a:pt x="1761313" y="2433753"/>
                    <a:pt x="1804513" y="2342552"/>
                  </a:cubicBezTo>
                  <a:lnTo>
                    <a:pt x="1873945" y="2195974"/>
                  </a:lnTo>
                  <a:cubicBezTo>
                    <a:pt x="1905675" y="2128989"/>
                    <a:pt x="1992230" y="1976114"/>
                    <a:pt x="2033344" y="1914444"/>
                  </a:cubicBezTo>
                  <a:lnTo>
                    <a:pt x="2089566" y="1830112"/>
                  </a:lnTo>
                  <a:cubicBezTo>
                    <a:pt x="2114719" y="1792381"/>
                    <a:pt x="2182235" y="1703257"/>
                    <a:pt x="2211746" y="1668827"/>
                  </a:cubicBezTo>
                  <a:lnTo>
                    <a:pt x="2330574" y="1530195"/>
                  </a:lnTo>
                  <a:cubicBezTo>
                    <a:pt x="2383719" y="1468192"/>
                    <a:pt x="2523798" y="1323367"/>
                    <a:pt x="2583996" y="1268185"/>
                  </a:cubicBezTo>
                  <a:lnTo>
                    <a:pt x="2668505" y="1190718"/>
                  </a:lnTo>
                  <a:cubicBezTo>
                    <a:pt x="2707393" y="1155071"/>
                    <a:pt x="2804510" y="1078921"/>
                    <a:pt x="2848402" y="1049659"/>
                  </a:cubicBezTo>
                  <a:lnTo>
                    <a:pt x="3090822" y="888046"/>
                  </a:lnTo>
                  <a:cubicBezTo>
                    <a:pt x="3183033" y="826572"/>
                    <a:pt x="3396923" y="712677"/>
                    <a:pt x="3499399" y="670481"/>
                  </a:cubicBezTo>
                  <a:lnTo>
                    <a:pt x="3606929" y="626204"/>
                  </a:lnTo>
                  <a:cubicBezTo>
                    <a:pt x="3655561" y="606179"/>
                    <a:pt x="3776057" y="565716"/>
                    <a:pt x="3826919" y="552332"/>
                  </a:cubicBezTo>
                  <a:lnTo>
                    <a:pt x="4011050" y="503876"/>
                  </a:lnTo>
                  <a:cubicBezTo>
                    <a:pt x="4094814" y="481833"/>
                    <a:pt x="4298253" y="443295"/>
                    <a:pt x="4384276" y="433174"/>
                  </a:cubicBezTo>
                  <a:lnTo>
                    <a:pt x="4719849" y="393695"/>
                  </a:lnTo>
                  <a:cubicBezTo>
                    <a:pt x="4874286" y="375526"/>
                    <a:pt x="5237680" y="360967"/>
                    <a:pt x="5393076" y="366723"/>
                  </a:cubicBezTo>
                  <a:lnTo>
                    <a:pt x="5565813" y="373120"/>
                  </a:lnTo>
                  <a:cubicBezTo>
                    <a:pt x="5645720" y="376079"/>
                    <a:pt x="5829643" y="397736"/>
                    <a:pt x="5908052" y="413418"/>
                  </a:cubicBezTo>
                  <a:lnTo>
                    <a:pt x="6348718" y="501551"/>
                  </a:lnTo>
                  <a:cubicBezTo>
                    <a:pt x="6363037" y="504415"/>
                    <a:pt x="6377907" y="501473"/>
                    <a:pt x="6390057" y="493373"/>
                  </a:cubicBezTo>
                  <a:lnTo>
                    <a:pt x="6409032" y="480722"/>
                  </a:lnTo>
                  <a:cubicBezTo>
                    <a:pt x="6431237" y="465920"/>
                    <a:pt x="6455448" y="438493"/>
                    <a:pt x="6467383" y="414624"/>
                  </a:cubicBezTo>
                  <a:lnTo>
                    <a:pt x="6482486" y="384420"/>
                  </a:lnTo>
                  <a:cubicBezTo>
                    <a:pt x="6491066" y="367259"/>
                    <a:pt x="6497587" y="339635"/>
                    <a:pt x="6497587" y="320448"/>
                  </a:cubicBezTo>
                  <a:lnTo>
                    <a:pt x="6497587" y="273323"/>
                  </a:lnTo>
                  <a:cubicBezTo>
                    <a:pt x="6497587" y="245740"/>
                    <a:pt x="6487586" y="212708"/>
                    <a:pt x="6472286" y="189758"/>
                  </a:cubicBezTo>
                  <a:lnTo>
                    <a:pt x="6459636" y="170783"/>
                  </a:lnTo>
                  <a:cubicBezTo>
                    <a:pt x="6451551" y="158656"/>
                    <a:pt x="6438886" y="150334"/>
                    <a:pt x="6424547" y="147727"/>
                  </a:cubicBezTo>
                  <a:close/>
                </a:path>
              </a:pathLst>
            </a:custGeom>
            <a:solidFill>
              <a:srgbClr val="FF9F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52400"/>
              <a:ext cx="6502400" cy="671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58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2929398">
            <a:off x="11144196" y="5536755"/>
            <a:ext cx="594640" cy="600447"/>
            <a:chOff x="0" y="0"/>
            <a:chExt cx="6502400" cy="6565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813" y="0"/>
              <a:ext cx="6497587" cy="6570597"/>
            </a:xfrm>
            <a:custGeom>
              <a:avLst/>
              <a:gdLst/>
              <a:ahLst/>
              <a:cxnLst/>
              <a:rect r="r" b="b" t="t" l="l"/>
              <a:pathLst>
                <a:path h="6570597" w="6497587">
                  <a:moveTo>
                    <a:pt x="6424547" y="147727"/>
                  </a:moveTo>
                  <a:lnTo>
                    <a:pt x="5761405" y="27156"/>
                  </a:lnTo>
                  <a:cubicBezTo>
                    <a:pt x="5662034" y="9089"/>
                    <a:pt x="5561240" y="0"/>
                    <a:pt x="5460240" y="0"/>
                  </a:cubicBezTo>
                  <a:lnTo>
                    <a:pt x="5308433" y="0"/>
                  </a:lnTo>
                  <a:cubicBezTo>
                    <a:pt x="5173760" y="0"/>
                    <a:pt x="4836909" y="18656"/>
                    <a:pt x="4703060" y="33528"/>
                  </a:cubicBezTo>
                  <a:lnTo>
                    <a:pt x="4512374" y="54715"/>
                  </a:lnTo>
                  <a:cubicBezTo>
                    <a:pt x="4428969" y="63983"/>
                    <a:pt x="4216013" y="97918"/>
                    <a:pt x="4133859" y="115034"/>
                  </a:cubicBezTo>
                  <a:lnTo>
                    <a:pt x="3898570" y="164052"/>
                  </a:lnTo>
                  <a:cubicBezTo>
                    <a:pt x="3814996" y="181464"/>
                    <a:pt x="3617745" y="236950"/>
                    <a:pt x="3537350" y="265662"/>
                  </a:cubicBezTo>
                  <a:lnTo>
                    <a:pt x="3448796" y="297289"/>
                  </a:lnTo>
                  <a:cubicBezTo>
                    <a:pt x="3409177" y="311438"/>
                    <a:pt x="3313767" y="352153"/>
                    <a:pt x="3276137" y="370968"/>
                  </a:cubicBezTo>
                  <a:lnTo>
                    <a:pt x="3083728" y="467172"/>
                  </a:lnTo>
                  <a:cubicBezTo>
                    <a:pt x="3002224" y="507924"/>
                    <a:pt x="2815284" y="618613"/>
                    <a:pt x="2740363" y="670481"/>
                  </a:cubicBezTo>
                  <a:lnTo>
                    <a:pt x="2658134" y="727409"/>
                  </a:lnTo>
                  <a:cubicBezTo>
                    <a:pt x="2620182" y="753684"/>
                    <a:pt x="2536990" y="821559"/>
                    <a:pt x="2503634" y="853467"/>
                  </a:cubicBezTo>
                  <a:lnTo>
                    <a:pt x="2217160" y="1127484"/>
                  </a:lnTo>
                  <a:cubicBezTo>
                    <a:pt x="2110856" y="1229166"/>
                    <a:pt x="1901230" y="1473462"/>
                    <a:pt x="1816871" y="1593973"/>
                  </a:cubicBezTo>
                  <a:lnTo>
                    <a:pt x="1728317" y="1720479"/>
                  </a:lnTo>
                  <a:cubicBezTo>
                    <a:pt x="1687800" y="1778361"/>
                    <a:pt x="1602301" y="1921909"/>
                    <a:pt x="1570705" y="1985103"/>
                  </a:cubicBezTo>
                  <a:lnTo>
                    <a:pt x="1504028" y="2118453"/>
                  </a:lnTo>
                  <a:cubicBezTo>
                    <a:pt x="1472988" y="2180535"/>
                    <a:pt x="1414153" y="2328033"/>
                    <a:pt x="1393945" y="2394435"/>
                  </a:cubicBezTo>
                  <a:lnTo>
                    <a:pt x="1327094" y="2614083"/>
                  </a:lnTo>
                  <a:cubicBezTo>
                    <a:pt x="1295556" y="2717710"/>
                    <a:pt x="1246853" y="2954264"/>
                    <a:pt x="1234891" y="3061922"/>
                  </a:cubicBezTo>
                  <a:lnTo>
                    <a:pt x="1209617" y="3289391"/>
                  </a:lnTo>
                  <a:cubicBezTo>
                    <a:pt x="1198033" y="3393643"/>
                    <a:pt x="1189106" y="3640747"/>
                    <a:pt x="1193139" y="3745563"/>
                  </a:cubicBezTo>
                  <a:lnTo>
                    <a:pt x="1201391" y="3960128"/>
                  </a:lnTo>
                  <a:cubicBezTo>
                    <a:pt x="1205045" y="4055133"/>
                    <a:pt x="1227177" y="4293050"/>
                    <a:pt x="1241110" y="4387098"/>
                  </a:cubicBezTo>
                  <a:lnTo>
                    <a:pt x="1275979" y="4622461"/>
                  </a:lnTo>
                  <a:cubicBezTo>
                    <a:pt x="1291176" y="4725041"/>
                    <a:pt x="1342473" y="4988277"/>
                    <a:pt x="1366905" y="5089059"/>
                  </a:cubicBezTo>
                  <a:lnTo>
                    <a:pt x="1506593" y="5665270"/>
                  </a:lnTo>
                  <a:cubicBezTo>
                    <a:pt x="1510493" y="5681359"/>
                    <a:pt x="1502763" y="5698010"/>
                    <a:pt x="1487956" y="5705413"/>
                  </a:cubicBezTo>
                  <a:lnTo>
                    <a:pt x="1487956" y="5705413"/>
                  </a:lnTo>
                  <a:cubicBezTo>
                    <a:pt x="1472846" y="5712968"/>
                    <a:pt x="1454597" y="5710006"/>
                    <a:pt x="1442652" y="5698061"/>
                  </a:cubicBezTo>
                  <a:lnTo>
                    <a:pt x="1234944" y="5490354"/>
                  </a:lnTo>
                  <a:cubicBezTo>
                    <a:pt x="1130275" y="5385684"/>
                    <a:pt x="866914" y="5159742"/>
                    <a:pt x="747546" y="5072205"/>
                  </a:cubicBezTo>
                  <a:lnTo>
                    <a:pt x="309408" y="4750903"/>
                  </a:lnTo>
                  <a:cubicBezTo>
                    <a:pt x="269640" y="4721740"/>
                    <a:pt x="221610" y="4706017"/>
                    <a:pt x="172295" y="4706017"/>
                  </a:cubicBezTo>
                  <a:lnTo>
                    <a:pt x="172295" y="4706017"/>
                  </a:lnTo>
                  <a:cubicBezTo>
                    <a:pt x="124875" y="4706017"/>
                    <a:pt x="80592" y="4729716"/>
                    <a:pt x="54288" y="4769172"/>
                  </a:cubicBezTo>
                  <a:lnTo>
                    <a:pt x="13078" y="4830988"/>
                  </a:lnTo>
                  <a:cubicBezTo>
                    <a:pt x="1623" y="4848170"/>
                    <a:pt x="-2538" y="4869200"/>
                    <a:pt x="1512" y="4889450"/>
                  </a:cubicBezTo>
                  <a:lnTo>
                    <a:pt x="7837" y="4921077"/>
                  </a:lnTo>
                  <a:cubicBezTo>
                    <a:pt x="15954" y="4961656"/>
                    <a:pt x="39058" y="4998108"/>
                    <a:pt x="72293" y="5022765"/>
                  </a:cubicBezTo>
                  <a:lnTo>
                    <a:pt x="438558" y="5294511"/>
                  </a:lnTo>
                  <a:cubicBezTo>
                    <a:pt x="604169" y="5417383"/>
                    <a:pt x="983967" y="5740424"/>
                    <a:pt x="1131822" y="5884170"/>
                  </a:cubicBezTo>
                  <a:lnTo>
                    <a:pt x="1630096" y="6368604"/>
                  </a:lnTo>
                  <a:cubicBezTo>
                    <a:pt x="1671357" y="6408720"/>
                    <a:pt x="1768071" y="6484551"/>
                    <a:pt x="1816871" y="6515050"/>
                  </a:cubicBezTo>
                  <a:lnTo>
                    <a:pt x="1867473" y="6546677"/>
                  </a:lnTo>
                  <a:cubicBezTo>
                    <a:pt x="1899807" y="6566885"/>
                    <a:pt x="1939326" y="6574762"/>
                    <a:pt x="1976937" y="6568494"/>
                  </a:cubicBezTo>
                  <a:lnTo>
                    <a:pt x="2023410" y="6560748"/>
                  </a:lnTo>
                  <a:cubicBezTo>
                    <a:pt x="2053180" y="6555786"/>
                    <a:pt x="2080461" y="6539780"/>
                    <a:pt x="2099314" y="6516212"/>
                  </a:cubicBezTo>
                  <a:lnTo>
                    <a:pt x="2135201" y="6471355"/>
                  </a:lnTo>
                  <a:cubicBezTo>
                    <a:pt x="2156135" y="6445186"/>
                    <a:pt x="2174934" y="6402871"/>
                    <a:pt x="2180317" y="6369797"/>
                  </a:cubicBezTo>
                  <a:lnTo>
                    <a:pt x="2267195" y="5836119"/>
                  </a:lnTo>
                  <a:cubicBezTo>
                    <a:pt x="2304176" y="5608949"/>
                    <a:pt x="2430694" y="5077301"/>
                    <a:pt x="2500003" y="4857824"/>
                  </a:cubicBezTo>
                  <a:lnTo>
                    <a:pt x="2627417" y="4454345"/>
                  </a:lnTo>
                  <a:cubicBezTo>
                    <a:pt x="2642661" y="4406073"/>
                    <a:pt x="2632831" y="4353378"/>
                    <a:pt x="2601207" y="4313849"/>
                  </a:cubicBezTo>
                  <a:lnTo>
                    <a:pt x="2601207" y="4313849"/>
                  </a:lnTo>
                  <a:cubicBezTo>
                    <a:pt x="2569223" y="4273869"/>
                    <a:pt x="2520800" y="4250596"/>
                    <a:pt x="2469601" y="4250596"/>
                  </a:cubicBezTo>
                  <a:lnTo>
                    <a:pt x="2400333" y="4250596"/>
                  </a:lnTo>
                  <a:cubicBezTo>
                    <a:pt x="2383150" y="4250596"/>
                    <a:pt x="2366671" y="4257422"/>
                    <a:pt x="2354521" y="4269572"/>
                  </a:cubicBezTo>
                  <a:lnTo>
                    <a:pt x="2335546" y="4288548"/>
                  </a:lnTo>
                  <a:cubicBezTo>
                    <a:pt x="2313728" y="4310365"/>
                    <a:pt x="2290847" y="4348299"/>
                    <a:pt x="2281723" y="4377771"/>
                  </a:cubicBezTo>
                  <a:lnTo>
                    <a:pt x="2006270" y="5267697"/>
                  </a:lnTo>
                  <a:cubicBezTo>
                    <a:pt x="1988314" y="5325709"/>
                    <a:pt x="1962070" y="5455228"/>
                    <a:pt x="1956028" y="5515654"/>
                  </a:cubicBezTo>
                  <a:lnTo>
                    <a:pt x="1946192" y="5614013"/>
                  </a:lnTo>
                  <a:cubicBezTo>
                    <a:pt x="1944440" y="5631535"/>
                    <a:pt x="1933826" y="5646936"/>
                    <a:pt x="1918076" y="5654811"/>
                  </a:cubicBezTo>
                  <a:lnTo>
                    <a:pt x="1908776" y="5659461"/>
                  </a:lnTo>
                  <a:cubicBezTo>
                    <a:pt x="1899220" y="5664239"/>
                    <a:pt x="1887678" y="5662366"/>
                    <a:pt x="1880124" y="5654811"/>
                  </a:cubicBezTo>
                  <a:lnTo>
                    <a:pt x="1867473" y="5642160"/>
                  </a:lnTo>
                  <a:cubicBezTo>
                    <a:pt x="1852173" y="5626861"/>
                    <a:pt x="1839398" y="5602990"/>
                    <a:pt x="1835155" y="5581773"/>
                  </a:cubicBezTo>
                  <a:lnTo>
                    <a:pt x="1700833" y="4910160"/>
                  </a:lnTo>
                  <a:cubicBezTo>
                    <a:pt x="1648550" y="4648747"/>
                    <a:pt x="1582433" y="4049048"/>
                    <a:pt x="1576510" y="3782525"/>
                  </a:cubicBezTo>
                  <a:lnTo>
                    <a:pt x="1570185" y="3497886"/>
                  </a:lnTo>
                  <a:cubicBezTo>
                    <a:pt x="1567070" y="3357695"/>
                    <a:pt x="1595202" y="3072207"/>
                    <a:pt x="1625622" y="2935319"/>
                  </a:cubicBezTo>
                  <a:lnTo>
                    <a:pt x="1670643" y="2732719"/>
                  </a:lnTo>
                  <a:cubicBezTo>
                    <a:pt x="1692536" y="2634206"/>
                    <a:pt x="1761313" y="2433753"/>
                    <a:pt x="1804513" y="2342552"/>
                  </a:cubicBezTo>
                  <a:lnTo>
                    <a:pt x="1873945" y="2195974"/>
                  </a:lnTo>
                  <a:cubicBezTo>
                    <a:pt x="1905675" y="2128989"/>
                    <a:pt x="1992230" y="1976114"/>
                    <a:pt x="2033344" y="1914444"/>
                  </a:cubicBezTo>
                  <a:lnTo>
                    <a:pt x="2089566" y="1830112"/>
                  </a:lnTo>
                  <a:cubicBezTo>
                    <a:pt x="2114719" y="1792381"/>
                    <a:pt x="2182235" y="1703257"/>
                    <a:pt x="2211746" y="1668827"/>
                  </a:cubicBezTo>
                  <a:lnTo>
                    <a:pt x="2330574" y="1530195"/>
                  </a:lnTo>
                  <a:cubicBezTo>
                    <a:pt x="2383719" y="1468192"/>
                    <a:pt x="2523798" y="1323367"/>
                    <a:pt x="2583996" y="1268185"/>
                  </a:cubicBezTo>
                  <a:lnTo>
                    <a:pt x="2668505" y="1190718"/>
                  </a:lnTo>
                  <a:cubicBezTo>
                    <a:pt x="2707393" y="1155071"/>
                    <a:pt x="2804510" y="1078921"/>
                    <a:pt x="2848402" y="1049659"/>
                  </a:cubicBezTo>
                  <a:lnTo>
                    <a:pt x="3090822" y="888046"/>
                  </a:lnTo>
                  <a:cubicBezTo>
                    <a:pt x="3183033" y="826572"/>
                    <a:pt x="3396923" y="712677"/>
                    <a:pt x="3499399" y="670481"/>
                  </a:cubicBezTo>
                  <a:lnTo>
                    <a:pt x="3606929" y="626204"/>
                  </a:lnTo>
                  <a:cubicBezTo>
                    <a:pt x="3655561" y="606179"/>
                    <a:pt x="3776057" y="565716"/>
                    <a:pt x="3826919" y="552332"/>
                  </a:cubicBezTo>
                  <a:lnTo>
                    <a:pt x="4011050" y="503876"/>
                  </a:lnTo>
                  <a:cubicBezTo>
                    <a:pt x="4094814" y="481833"/>
                    <a:pt x="4298253" y="443295"/>
                    <a:pt x="4384276" y="433174"/>
                  </a:cubicBezTo>
                  <a:lnTo>
                    <a:pt x="4719849" y="393695"/>
                  </a:lnTo>
                  <a:cubicBezTo>
                    <a:pt x="4874286" y="375526"/>
                    <a:pt x="5237680" y="360967"/>
                    <a:pt x="5393076" y="366723"/>
                  </a:cubicBezTo>
                  <a:lnTo>
                    <a:pt x="5565813" y="373120"/>
                  </a:lnTo>
                  <a:cubicBezTo>
                    <a:pt x="5645720" y="376079"/>
                    <a:pt x="5829643" y="397736"/>
                    <a:pt x="5908052" y="413418"/>
                  </a:cubicBezTo>
                  <a:lnTo>
                    <a:pt x="6348718" y="501551"/>
                  </a:lnTo>
                  <a:cubicBezTo>
                    <a:pt x="6363037" y="504415"/>
                    <a:pt x="6377907" y="501473"/>
                    <a:pt x="6390057" y="493373"/>
                  </a:cubicBezTo>
                  <a:lnTo>
                    <a:pt x="6409032" y="480722"/>
                  </a:lnTo>
                  <a:cubicBezTo>
                    <a:pt x="6431237" y="465920"/>
                    <a:pt x="6455448" y="438493"/>
                    <a:pt x="6467383" y="414624"/>
                  </a:cubicBezTo>
                  <a:lnTo>
                    <a:pt x="6482486" y="384420"/>
                  </a:lnTo>
                  <a:cubicBezTo>
                    <a:pt x="6491066" y="367259"/>
                    <a:pt x="6497587" y="339635"/>
                    <a:pt x="6497587" y="320448"/>
                  </a:cubicBezTo>
                  <a:lnTo>
                    <a:pt x="6497587" y="273323"/>
                  </a:lnTo>
                  <a:cubicBezTo>
                    <a:pt x="6497587" y="245740"/>
                    <a:pt x="6487586" y="212708"/>
                    <a:pt x="6472286" y="189758"/>
                  </a:cubicBezTo>
                  <a:lnTo>
                    <a:pt x="6459636" y="170783"/>
                  </a:lnTo>
                  <a:cubicBezTo>
                    <a:pt x="6451551" y="158656"/>
                    <a:pt x="6438886" y="150334"/>
                    <a:pt x="6424547" y="147727"/>
                  </a:cubicBezTo>
                  <a:close/>
                </a:path>
              </a:pathLst>
            </a:custGeom>
            <a:solidFill>
              <a:srgbClr val="FF9F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52400"/>
              <a:ext cx="6502400" cy="671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58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300249" y="5580414"/>
            <a:ext cx="1162617" cy="39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1899" i="true">
                <a:solidFill>
                  <a:srgbClr val="FF9F5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step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61401" y="5529645"/>
            <a:ext cx="806016" cy="55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899" i="true">
                <a:solidFill>
                  <a:srgbClr val="FF9F5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state &amp; reward</a:t>
            </a:r>
          </a:p>
        </p:txBody>
      </p:sp>
      <p:grpSp>
        <p:nvGrpSpPr>
          <p:cNvPr name="Group 38" id="38"/>
          <p:cNvGrpSpPr/>
          <p:nvPr/>
        </p:nvGrpSpPr>
        <p:grpSpPr>
          <a:xfrm rot="5400000">
            <a:off x="12056721" y="6963550"/>
            <a:ext cx="568344" cy="203489"/>
            <a:chOff x="0" y="0"/>
            <a:chExt cx="2067015" cy="7400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67015" cy="740069"/>
            </a:xfrm>
            <a:custGeom>
              <a:avLst/>
              <a:gdLst/>
              <a:ahLst/>
              <a:cxnLst/>
              <a:rect r="r" b="b" t="t" l="l"/>
              <a:pathLst>
                <a:path h="740069" w="2067015">
                  <a:moveTo>
                    <a:pt x="1492975" y="0"/>
                  </a:moveTo>
                  <a:lnTo>
                    <a:pt x="1245325" y="0"/>
                  </a:lnTo>
                  <a:lnTo>
                    <a:pt x="1722845" y="308430"/>
                  </a:lnTo>
                  <a:lnTo>
                    <a:pt x="0" y="308430"/>
                  </a:lnTo>
                  <a:lnTo>
                    <a:pt x="0" y="431639"/>
                  </a:lnTo>
                  <a:lnTo>
                    <a:pt x="1722845" y="431639"/>
                  </a:lnTo>
                  <a:lnTo>
                    <a:pt x="1245325" y="740069"/>
                  </a:lnTo>
                  <a:lnTo>
                    <a:pt x="1492975" y="740069"/>
                  </a:lnTo>
                  <a:lnTo>
                    <a:pt x="2067015" y="369627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093451" y="446233"/>
            <a:ext cx="14101099" cy="8936571"/>
          </a:xfrm>
          <a:custGeom>
            <a:avLst/>
            <a:gdLst/>
            <a:ahLst/>
            <a:cxnLst/>
            <a:rect r="r" b="b" t="t" l="l"/>
            <a:pathLst>
              <a:path h="8936571" w="14101099">
                <a:moveTo>
                  <a:pt x="0" y="0"/>
                </a:moveTo>
                <a:lnTo>
                  <a:pt x="14101098" y="0"/>
                </a:lnTo>
                <a:lnTo>
                  <a:pt x="14101098" y="8936572"/>
                </a:lnTo>
                <a:lnTo>
                  <a:pt x="0" y="8936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" y="5766435"/>
            <a:ext cx="4389120" cy="537210"/>
            <a:chOff x="0" y="0"/>
            <a:chExt cx="5852160" cy="716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746228"/>
            <a:ext cx="5120640" cy="6837702"/>
            <a:chOff x="0" y="0"/>
            <a:chExt cx="6827520" cy="91169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9116936"/>
            </a:xfrm>
            <a:custGeom>
              <a:avLst/>
              <a:gdLst/>
              <a:ahLst/>
              <a:cxnLst/>
              <a:rect r="r" b="b" t="t" l="l"/>
              <a:pathLst>
                <a:path h="911693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116936"/>
                  </a:lnTo>
                  <a:lnTo>
                    <a:pt x="0" y="9116936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63040" y="2714927"/>
            <a:ext cx="4389120" cy="5257261"/>
            <a:chOff x="0" y="0"/>
            <a:chExt cx="5852160" cy="70096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7009681"/>
            </a:xfrm>
            <a:custGeom>
              <a:avLst/>
              <a:gdLst/>
              <a:ahLst/>
              <a:cxnLst/>
              <a:rect r="r" b="b" t="t" l="l"/>
              <a:pathLst>
                <a:path h="700968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009681"/>
                  </a:lnTo>
                  <a:lnTo>
                    <a:pt x="0" y="7009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442" r="-212500" b="3177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852160" cy="70573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first define the environment as a Markov Decision Process, specifying states, actions, rewards and episode dynamics.</a:t>
              </a:r>
            </a:p>
            <a:p>
              <a:pPr algn="just">
                <a:lnSpc>
                  <a:spcPts val="2760"/>
                </a:lnSpc>
              </a:pP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S: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(x,y,vx​,vy​) position + velocity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 A: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matrix of 9 possible discrete accelerations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Rewards R: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-1 for each step until target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 total reward: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sequence that acumulates the rewards for each state in one episode</a:t>
              </a:r>
            </a:p>
            <a:p>
              <a:pPr algn="just">
                <a:lnSpc>
                  <a:spcPts val="27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3040" y="2025317"/>
            <a:ext cx="4389120" cy="537210"/>
            <a:chOff x="0" y="0"/>
            <a:chExt cx="5852160" cy="716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Formulation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" y="5766435"/>
            <a:ext cx="4389120" cy="537210"/>
            <a:chOff x="0" y="0"/>
            <a:chExt cx="5852160" cy="716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746228"/>
            <a:ext cx="5120640" cy="6837702"/>
            <a:chOff x="0" y="0"/>
            <a:chExt cx="6827520" cy="91169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9116936"/>
            </a:xfrm>
            <a:custGeom>
              <a:avLst/>
              <a:gdLst/>
              <a:ahLst/>
              <a:cxnLst/>
              <a:rect r="r" b="b" t="t" l="l"/>
              <a:pathLst>
                <a:path h="911693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116936"/>
                  </a:lnTo>
                  <a:lnTo>
                    <a:pt x="0" y="9116936"/>
                  </a:lnTo>
                  <a:close/>
                </a:path>
              </a:pathLst>
            </a:custGeom>
            <a:solidFill>
              <a:srgbClr val="0F1B2D">
                <a:alpha val="5098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63040" y="2714927"/>
            <a:ext cx="4389120" cy="5256889"/>
            <a:chOff x="0" y="0"/>
            <a:chExt cx="5852160" cy="70091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7009185"/>
            </a:xfrm>
            <a:custGeom>
              <a:avLst/>
              <a:gdLst/>
              <a:ahLst/>
              <a:cxnLst/>
              <a:rect r="r" b="b" t="t" l="l"/>
              <a:pathLst>
                <a:path h="700918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009185"/>
                  </a:lnTo>
                  <a:lnTo>
                    <a:pt x="0" y="7009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445" r="-212500" b="3176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852160" cy="705681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first define the environment as a Markov Decision Process, specifying states, actions, rewards and episode dynamics.</a:t>
              </a:r>
            </a:p>
            <a:p>
              <a:pPr algn="just">
                <a:lnSpc>
                  <a:spcPts val="2760"/>
                </a:lnSpc>
              </a:pP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S: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(x,y,vx​,vy​) position + velocity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 A: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matrix of 9 possible discrete accelerations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Rewards R: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-1 for each step until target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 total reward: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sequence that acumulates the rewards for each state in one episode</a:t>
              </a:r>
            </a:p>
            <a:p>
              <a:pPr algn="just">
                <a:lnSpc>
                  <a:spcPts val="27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3040" y="2025317"/>
            <a:ext cx="4389120" cy="537210"/>
            <a:chOff x="0" y="0"/>
            <a:chExt cx="5852160" cy="716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Formulation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32320" y="5766435"/>
            <a:ext cx="4389120" cy="537210"/>
            <a:chOff x="0" y="0"/>
            <a:chExt cx="5852160" cy="716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Solution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66560" y="5411816"/>
            <a:ext cx="5120640" cy="3150535"/>
            <a:chOff x="0" y="0"/>
            <a:chExt cx="6827520" cy="42007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4200714"/>
            </a:xfrm>
            <a:custGeom>
              <a:avLst/>
              <a:gdLst/>
              <a:ahLst/>
              <a:cxnLst/>
              <a:rect r="r" b="b" t="t" l="l"/>
              <a:pathLst>
                <a:path h="420071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200714"/>
                  </a:lnTo>
                  <a:lnTo>
                    <a:pt x="0" y="420071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766560" y="1724649"/>
            <a:ext cx="5120640" cy="6837702"/>
            <a:chOff x="0" y="0"/>
            <a:chExt cx="6827520" cy="911693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827520" cy="9116936"/>
              <a:chOff x="0" y="0"/>
              <a:chExt cx="6827520" cy="911693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827520" cy="9116936"/>
              </a:xfrm>
              <a:custGeom>
                <a:avLst/>
                <a:gdLst/>
                <a:ahLst/>
                <a:cxnLst/>
                <a:rect r="r" b="b" t="t" l="l"/>
                <a:pathLst>
                  <a:path h="9116936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9116936"/>
                    </a:lnTo>
                    <a:lnTo>
                      <a:pt x="0" y="9116936"/>
                    </a:lnTo>
                    <a:close/>
                  </a:path>
                </a:pathLst>
              </a:custGeom>
              <a:solidFill>
                <a:srgbClr val="0F1B2D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487680" y="1520344"/>
              <a:ext cx="5852160" cy="6098271"/>
              <a:chOff x="0" y="0"/>
              <a:chExt cx="5852160" cy="609827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852160" cy="6098271"/>
              </a:xfrm>
              <a:custGeom>
                <a:avLst/>
                <a:gdLst/>
                <a:ahLst/>
                <a:cxnLst/>
                <a:rect r="r" b="b" t="t" l="l"/>
                <a:pathLst>
                  <a:path h="6098271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6098271"/>
                    </a:lnTo>
                    <a:lnTo>
                      <a:pt x="0" y="609827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8440" r="-212500" b="21574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5852160" cy="6145896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just">
                  <a:lnSpc>
                    <a:spcPts val="2760"/>
                  </a:lnSpc>
                </a:pP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The policy is ε-greedy with respect to Q, allowing a balance between explora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tion a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nd exploitation, with a decaying ε ov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er tim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e.</a:t>
                </a:r>
              </a:p>
              <a:p>
                <a:pPr algn="just">
                  <a:lnSpc>
                    <a:spcPts val="2760"/>
                  </a:lnSpc>
                </a:pPr>
              </a:p>
              <a:p>
                <a:pPr algn="just" marL="496572" indent="-248286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b="true" sz="23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Policy π: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ε-greedy, implicit and not stored</a:t>
                </a:r>
              </a:p>
              <a:p>
                <a:pPr algn="just" marL="496572" indent="-248286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b="true" sz="23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Exploration vs Explotation: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ε controls randomness and it decreases through episodes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87680" y="438022"/>
              <a:ext cx="5852160" cy="843135"/>
              <a:chOff x="0" y="0"/>
              <a:chExt cx="5852160" cy="84313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852160" cy="843135"/>
              </a:xfrm>
              <a:custGeom>
                <a:avLst/>
                <a:gdLst/>
                <a:ahLst/>
                <a:cxnLst/>
                <a:rect r="r" b="b" t="t" l="l"/>
                <a:pathLst>
                  <a:path h="843135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843135"/>
                    </a:lnTo>
                    <a:lnTo>
                      <a:pt x="0" y="84313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633" r="0" b="-85855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5852160" cy="8621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00"/>
                  </a:lnSpc>
                </a:pPr>
                <a:r>
                  <a:rPr lang="en-US" sz="2500" b="true">
                    <a:solidFill>
                      <a:srgbClr val="FFFFFF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Policy &amp; exploration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" y="5766435"/>
            <a:ext cx="4389120" cy="537210"/>
            <a:chOff x="0" y="0"/>
            <a:chExt cx="5852160" cy="716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1746228"/>
            <a:ext cx="5120640" cy="6837702"/>
            <a:chOff x="0" y="0"/>
            <a:chExt cx="6827520" cy="91169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9116936"/>
            </a:xfrm>
            <a:custGeom>
              <a:avLst/>
              <a:gdLst/>
              <a:ahLst/>
              <a:cxnLst/>
              <a:rect r="r" b="b" t="t" l="l"/>
              <a:pathLst>
                <a:path h="911693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116936"/>
                  </a:lnTo>
                  <a:lnTo>
                    <a:pt x="0" y="9116936"/>
                  </a:lnTo>
                  <a:close/>
                </a:path>
              </a:pathLst>
            </a:custGeom>
            <a:solidFill>
              <a:srgbClr val="0F1B2D">
                <a:alpha val="4980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63040" y="2714927"/>
            <a:ext cx="4389120" cy="5257261"/>
            <a:chOff x="0" y="0"/>
            <a:chExt cx="5852160" cy="70096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7009681"/>
            </a:xfrm>
            <a:custGeom>
              <a:avLst/>
              <a:gdLst/>
              <a:ahLst/>
              <a:cxnLst/>
              <a:rect r="r" b="b" t="t" l="l"/>
              <a:pathLst>
                <a:path h="700968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009681"/>
                  </a:lnTo>
                  <a:lnTo>
                    <a:pt x="0" y="7009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442" r="-212500" b="3177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852160" cy="70573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first define the environment as a Markov Decision Process, specifying states, actions, rewards and episode dynamics.</a:t>
              </a:r>
            </a:p>
            <a:p>
              <a:pPr algn="just">
                <a:lnSpc>
                  <a:spcPts val="2760"/>
                </a:lnSpc>
              </a:pP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S: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(x,y,vx​,vy​) position + velocity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 A: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matrix of 9 possible discrete accelerations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Rewards R: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-1 for each step until target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 total reward: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sequence that acumulates the rewards for each state in one episode</a:t>
              </a:r>
            </a:p>
            <a:p>
              <a:pPr algn="just">
                <a:lnSpc>
                  <a:spcPts val="27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3040" y="2025317"/>
            <a:ext cx="4389120" cy="537210"/>
            <a:chOff x="0" y="0"/>
            <a:chExt cx="5852160" cy="716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Formulation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66560" y="5411816"/>
            <a:ext cx="5120640" cy="3150535"/>
            <a:chOff x="0" y="0"/>
            <a:chExt cx="6827520" cy="42007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4200714"/>
            </a:xfrm>
            <a:custGeom>
              <a:avLst/>
              <a:gdLst/>
              <a:ahLst/>
              <a:cxnLst/>
              <a:rect r="r" b="b" t="t" l="l"/>
              <a:pathLst>
                <a:path h="420071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200714"/>
                  </a:lnTo>
                  <a:lnTo>
                    <a:pt x="0" y="420071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66560" y="1724649"/>
            <a:ext cx="5120640" cy="6837702"/>
            <a:chOff x="0" y="0"/>
            <a:chExt cx="6827520" cy="911693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827520" cy="9116936"/>
              <a:chOff x="0" y="0"/>
              <a:chExt cx="6827520" cy="911693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827520" cy="9116936"/>
              </a:xfrm>
              <a:custGeom>
                <a:avLst/>
                <a:gdLst/>
                <a:ahLst/>
                <a:cxnLst/>
                <a:rect r="r" b="b" t="t" l="l"/>
                <a:pathLst>
                  <a:path h="9116936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9116936"/>
                    </a:lnTo>
                    <a:lnTo>
                      <a:pt x="0" y="9116936"/>
                    </a:lnTo>
                    <a:close/>
                  </a:path>
                </a:pathLst>
              </a:custGeom>
              <a:solidFill>
                <a:srgbClr val="0F1B2D">
                  <a:alpha val="49804"/>
                </a:srgbClr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487680" y="1520344"/>
              <a:ext cx="5852160" cy="6098271"/>
              <a:chOff x="0" y="0"/>
              <a:chExt cx="5852160" cy="609827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852160" cy="6098271"/>
              </a:xfrm>
              <a:custGeom>
                <a:avLst/>
                <a:gdLst/>
                <a:ahLst/>
                <a:cxnLst/>
                <a:rect r="r" b="b" t="t" l="l"/>
                <a:pathLst>
                  <a:path h="6098271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6098271"/>
                    </a:lnTo>
                    <a:lnTo>
                      <a:pt x="0" y="609827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8440" r="-212500" b="21574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5852160" cy="6145896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just">
                  <a:lnSpc>
                    <a:spcPts val="2760"/>
                  </a:lnSpc>
                </a:pP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The policy is ε-greedy with respect to Q, allowing a balance between explora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tion a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nd exploitation, with a decaying ε ov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er tim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e.</a:t>
                </a:r>
              </a:p>
              <a:p>
                <a:pPr algn="just">
                  <a:lnSpc>
                    <a:spcPts val="2760"/>
                  </a:lnSpc>
                </a:pPr>
              </a:p>
              <a:p>
                <a:pPr algn="just" marL="496572" indent="-248286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b="true" sz="23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Policy π: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ε-greedy, implicit and not stored</a:t>
                </a:r>
              </a:p>
              <a:p>
                <a:pPr algn="just" marL="496572" indent="-248286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b="true" sz="23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Exploration vs Explotation: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ε controls randomness and it decreases through episodes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487680" y="438022"/>
              <a:ext cx="5852160" cy="843135"/>
              <a:chOff x="0" y="0"/>
              <a:chExt cx="5852160" cy="84313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852160" cy="843135"/>
              </a:xfrm>
              <a:custGeom>
                <a:avLst/>
                <a:gdLst/>
                <a:ahLst/>
                <a:cxnLst/>
                <a:rect r="r" b="b" t="t" l="l"/>
                <a:pathLst>
                  <a:path h="843135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843135"/>
                    </a:lnTo>
                    <a:lnTo>
                      <a:pt x="0" y="84313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633" r="0" b="-85855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5852160" cy="8621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00"/>
                  </a:lnSpc>
                </a:pPr>
                <a:r>
                  <a:rPr lang="en-US" sz="2500" b="true">
                    <a:solidFill>
                      <a:srgbClr val="FFFFFF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Policy &amp; exploration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2439650" y="5411816"/>
            <a:ext cx="5120640" cy="3150535"/>
            <a:chOff x="0" y="0"/>
            <a:chExt cx="6827520" cy="42007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4200714"/>
            </a:xfrm>
            <a:custGeom>
              <a:avLst/>
              <a:gdLst/>
              <a:ahLst/>
              <a:cxnLst/>
              <a:rect r="r" b="b" t="t" l="l"/>
              <a:pathLst>
                <a:path h="420071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200714"/>
                  </a:lnTo>
                  <a:lnTo>
                    <a:pt x="0" y="420071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05410" y="5744856"/>
            <a:ext cx="4389120" cy="537210"/>
            <a:chOff x="0" y="0"/>
            <a:chExt cx="5852160" cy="716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Solution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439650" y="1724649"/>
            <a:ext cx="5120640" cy="6837702"/>
            <a:chOff x="0" y="0"/>
            <a:chExt cx="6827520" cy="91169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9116936"/>
            </a:xfrm>
            <a:custGeom>
              <a:avLst/>
              <a:gdLst/>
              <a:ahLst/>
              <a:cxnLst/>
              <a:rect r="r" b="b" t="t" l="l"/>
              <a:pathLst>
                <a:path h="911693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116936"/>
                  </a:lnTo>
                  <a:lnTo>
                    <a:pt x="0" y="9116936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805410" y="2693348"/>
            <a:ext cx="4389120" cy="4914336"/>
            <a:chOff x="0" y="0"/>
            <a:chExt cx="5852160" cy="65524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2160" cy="6552448"/>
            </a:xfrm>
            <a:custGeom>
              <a:avLst/>
              <a:gdLst/>
              <a:ahLst/>
              <a:cxnLst/>
              <a:rect r="r" b="b" t="t" l="l"/>
              <a:pathLst>
                <a:path h="655244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552448"/>
                  </a:lnTo>
                  <a:lnTo>
                    <a:pt x="0" y="6552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76" r="-212500" b="270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852160" cy="66000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estimate the action-value function using first-visit Monte Carlo, averaging returns for each state-action pair.</a:t>
              </a:r>
            </a:p>
            <a:p>
              <a:pPr algn="just">
                <a:lnSpc>
                  <a:spcPts val="2760"/>
                </a:lnSpc>
              </a:pP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Q-function Q(s,a):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Tabular representation, we initialize its value to 0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Returns Estimation: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First-visit Monte Carlo and avg of the returns</a:t>
              </a:r>
            </a:p>
            <a:p>
              <a:pPr algn="l" marL="496572" indent="-248286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Return G: </a:t>
              </a: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Computes G from time 1 to time t -1 with discount γ.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05410" y="2003738"/>
            <a:ext cx="4389120" cy="537210"/>
            <a:chOff x="0" y="0"/>
            <a:chExt cx="5852160" cy="716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16280"/>
            </a:xfrm>
            <a:custGeom>
              <a:avLst/>
              <a:gdLst/>
              <a:ahLst/>
              <a:cxnLst/>
              <a:rect r="r" b="b" t="t" l="l"/>
              <a:pathLst>
                <a:path h="716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16280"/>
                  </a:lnTo>
                  <a:lnTo>
                    <a:pt x="0" y="716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22" r="0" b="-1187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85216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Learning Mechanism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000" r="0" b="-44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4579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Core idea of the Environment algorithm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43175" y="2218880"/>
            <a:ext cx="7486660" cy="1678405"/>
            <a:chOff x="0" y="0"/>
            <a:chExt cx="9982213" cy="22378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82213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82213">
                  <a:moveTo>
                    <a:pt x="0" y="0"/>
                  </a:moveTo>
                  <a:lnTo>
                    <a:pt x="9982213" y="0"/>
                  </a:lnTo>
                  <a:lnTo>
                    <a:pt x="9982213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05837" y="2218880"/>
            <a:ext cx="165354" cy="1678405"/>
            <a:chOff x="0" y="0"/>
            <a:chExt cx="170688" cy="17325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91815" y="2944245"/>
            <a:ext cx="6583680" cy="708298"/>
            <a:chOff x="0" y="0"/>
            <a:chExt cx="8778240" cy="9443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agent state is not only where the robot is, but also how fast it is moving.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91815" y="2368274"/>
            <a:ext cx="6583680" cy="452686"/>
            <a:chOff x="0" y="0"/>
            <a:chExt cx="8778240" cy="6035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603581"/>
            </a:xfrm>
            <a:custGeom>
              <a:avLst/>
              <a:gdLst/>
              <a:ahLst/>
              <a:cxnLst/>
              <a:rect r="r" b="b" t="t" l="l"/>
              <a:pathLst>
                <a:path h="603581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8778240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State Representation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0513" y="4519318"/>
            <a:ext cx="7449322" cy="1678405"/>
            <a:chOff x="0" y="0"/>
            <a:chExt cx="9932429" cy="22378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32429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32429">
                  <a:moveTo>
                    <a:pt x="0" y="0"/>
                  </a:moveTo>
                  <a:lnTo>
                    <a:pt x="9932429" y="0"/>
                  </a:lnTo>
                  <a:lnTo>
                    <a:pt x="9932429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43175" y="4519318"/>
            <a:ext cx="165354" cy="1678405"/>
            <a:chOff x="0" y="0"/>
            <a:chExt cx="170688" cy="17325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29153" y="5245223"/>
            <a:ext cx="6583680" cy="708298"/>
            <a:chOff x="0" y="0"/>
            <a:chExt cx="8778240" cy="9443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Actions do not move the robot directly, they modify its velocity, and velocity determines the next position.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29153" y="4668712"/>
            <a:ext cx="6583680" cy="452686"/>
            <a:chOff x="0" y="0"/>
            <a:chExt cx="8778240" cy="6035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78240" cy="603581"/>
            </a:xfrm>
            <a:custGeom>
              <a:avLst/>
              <a:gdLst/>
              <a:ahLst/>
              <a:cxnLst/>
              <a:rect r="r" b="b" t="t" l="l"/>
              <a:pathLst>
                <a:path h="603581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778240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Transition dynamics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99880" y="6816848"/>
            <a:ext cx="7429955" cy="1678405"/>
            <a:chOff x="0" y="0"/>
            <a:chExt cx="9906607" cy="22378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06607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06607">
                  <a:moveTo>
                    <a:pt x="0" y="0"/>
                  </a:moveTo>
                  <a:lnTo>
                    <a:pt x="9906607" y="0"/>
                  </a:lnTo>
                  <a:lnTo>
                    <a:pt x="9906607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61844" y="6816848"/>
            <a:ext cx="168444" cy="1678405"/>
            <a:chOff x="0" y="0"/>
            <a:chExt cx="173877" cy="17325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3877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3877">
                  <a:moveTo>
                    <a:pt x="0" y="0"/>
                  </a:moveTo>
                  <a:lnTo>
                    <a:pt x="173877" y="0"/>
                  </a:lnTo>
                  <a:lnTo>
                    <a:pt x="173877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58772" y="6912098"/>
            <a:ext cx="6706701" cy="452686"/>
            <a:chOff x="0" y="0"/>
            <a:chExt cx="8942269" cy="6035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42269" cy="603581"/>
            </a:xfrm>
            <a:custGeom>
              <a:avLst/>
              <a:gdLst/>
              <a:ahLst/>
              <a:cxnLst/>
              <a:rect r="r" b="b" t="t" l="l"/>
              <a:pathLst>
                <a:path h="603581" w="8942269">
                  <a:moveTo>
                    <a:pt x="0" y="0"/>
                  </a:moveTo>
                  <a:lnTo>
                    <a:pt x="8942269" y="0"/>
                  </a:lnTo>
                  <a:lnTo>
                    <a:pt x="8942269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942269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Environment rules and reward logic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10103" y="7386855"/>
            <a:ext cx="6583680" cy="1013148"/>
            <a:chOff x="0" y="0"/>
            <a:chExt cx="8778240" cy="13508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1350863"/>
            </a:xfrm>
            <a:custGeom>
              <a:avLst/>
              <a:gdLst/>
              <a:ahLst/>
              <a:cxnLst/>
              <a:rect r="r" b="b" t="t" l="l"/>
              <a:pathLst>
                <a:path h="1350863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50863"/>
                  </a:lnTo>
                  <a:lnTo>
                    <a:pt x="0" y="1350863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778240" cy="138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environment penalizes every step, so the agent is encouraged to reach the goal as quickly as possible while avoiding collisions.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804759" y="1624996"/>
            <a:ext cx="8698508" cy="7763419"/>
          </a:xfrm>
          <a:custGeom>
            <a:avLst/>
            <a:gdLst/>
            <a:ahLst/>
            <a:cxnLst/>
            <a:rect r="r" b="b" t="t" l="l"/>
            <a:pathLst>
              <a:path h="7763419" w="8698508">
                <a:moveTo>
                  <a:pt x="0" y="0"/>
                </a:moveTo>
                <a:lnTo>
                  <a:pt x="8698508" y="0"/>
                </a:lnTo>
                <a:lnTo>
                  <a:pt x="8698508" y="7763418"/>
                </a:lnTo>
                <a:lnTo>
                  <a:pt x="0" y="7763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747109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000" r="0" b="-44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4579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Core idea of the Policy algorithm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43175" y="2218880"/>
            <a:ext cx="7486660" cy="1678405"/>
            <a:chOff x="0" y="0"/>
            <a:chExt cx="9982213" cy="22378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82213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82213">
                  <a:moveTo>
                    <a:pt x="0" y="0"/>
                  </a:moveTo>
                  <a:lnTo>
                    <a:pt x="9982213" y="0"/>
                  </a:lnTo>
                  <a:lnTo>
                    <a:pt x="9982213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05837" y="2218880"/>
            <a:ext cx="165354" cy="1678405"/>
            <a:chOff x="0" y="0"/>
            <a:chExt cx="170688" cy="17325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91815" y="2944245"/>
            <a:ext cx="6583680" cy="708298"/>
            <a:chOff x="0" y="0"/>
            <a:chExt cx="8778240" cy="9443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policy uses the current Q-values to identify the best available actions.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91815" y="2368274"/>
            <a:ext cx="6583680" cy="452686"/>
            <a:chOff x="0" y="0"/>
            <a:chExt cx="8778240" cy="6035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603581"/>
            </a:xfrm>
            <a:custGeom>
              <a:avLst/>
              <a:gdLst/>
              <a:ahLst/>
              <a:cxnLst/>
              <a:rect r="r" b="b" t="t" l="l"/>
              <a:pathLst>
                <a:path h="603581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8778240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Best action selection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0513" y="4519318"/>
            <a:ext cx="7449322" cy="1678405"/>
            <a:chOff x="0" y="0"/>
            <a:chExt cx="9932429" cy="22378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32429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32429">
                  <a:moveTo>
                    <a:pt x="0" y="0"/>
                  </a:moveTo>
                  <a:lnTo>
                    <a:pt x="9932429" y="0"/>
                  </a:lnTo>
                  <a:lnTo>
                    <a:pt x="9932429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43175" y="4519318"/>
            <a:ext cx="165354" cy="1678405"/>
            <a:chOff x="0" y="0"/>
            <a:chExt cx="170688" cy="17325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29153" y="5245223"/>
            <a:ext cx="6583680" cy="708298"/>
            <a:chOff x="0" y="0"/>
            <a:chExt cx="8778240" cy="9443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 greedy mode, the agent follows the action that currently looks best.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29153" y="4668712"/>
            <a:ext cx="6583680" cy="452686"/>
            <a:chOff x="0" y="0"/>
            <a:chExt cx="8778240" cy="6035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78240" cy="603581"/>
            </a:xfrm>
            <a:custGeom>
              <a:avLst/>
              <a:gdLst/>
              <a:ahLst/>
              <a:cxnLst/>
              <a:rect r="r" b="b" t="t" l="l"/>
              <a:pathLst>
                <a:path h="603581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778240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Greedy decision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99880" y="6816848"/>
            <a:ext cx="7429955" cy="1678405"/>
            <a:chOff x="0" y="0"/>
            <a:chExt cx="9906607" cy="22378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06607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06607">
                  <a:moveTo>
                    <a:pt x="0" y="0"/>
                  </a:moveTo>
                  <a:lnTo>
                    <a:pt x="9906607" y="0"/>
                  </a:lnTo>
                  <a:lnTo>
                    <a:pt x="9906607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61844" y="6816848"/>
            <a:ext cx="168444" cy="1678405"/>
            <a:chOff x="0" y="0"/>
            <a:chExt cx="173877" cy="17325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3877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3877">
                  <a:moveTo>
                    <a:pt x="0" y="0"/>
                  </a:moveTo>
                  <a:lnTo>
                    <a:pt x="173877" y="0"/>
                  </a:lnTo>
                  <a:lnTo>
                    <a:pt x="173877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58772" y="6969248"/>
            <a:ext cx="6706701" cy="452686"/>
            <a:chOff x="0" y="0"/>
            <a:chExt cx="8942269" cy="6035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42269" cy="603581"/>
            </a:xfrm>
            <a:custGeom>
              <a:avLst/>
              <a:gdLst/>
              <a:ahLst/>
              <a:cxnLst/>
              <a:rect r="r" b="b" t="t" l="l"/>
              <a:pathLst>
                <a:path h="603581" w="8942269">
                  <a:moveTo>
                    <a:pt x="0" y="0"/>
                  </a:moveTo>
                  <a:lnTo>
                    <a:pt x="8942269" y="0"/>
                  </a:lnTo>
                  <a:lnTo>
                    <a:pt x="8942269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942269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Exploration vs Exploitation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10103" y="7555283"/>
            <a:ext cx="6583680" cy="708298"/>
            <a:chOff x="0" y="0"/>
            <a:chExt cx="8778240" cy="9443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policy balances exploration and exploitation by occasionally trying random actions.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572203" y="2421544"/>
            <a:ext cx="9147859" cy="5647357"/>
          </a:xfrm>
          <a:custGeom>
            <a:avLst/>
            <a:gdLst/>
            <a:ahLst/>
            <a:cxnLst/>
            <a:rect r="r" b="b" t="t" l="l"/>
            <a:pathLst>
              <a:path h="5647357" w="9147859">
                <a:moveTo>
                  <a:pt x="0" y="0"/>
                </a:moveTo>
                <a:lnTo>
                  <a:pt x="9147859" y="0"/>
                </a:lnTo>
                <a:lnTo>
                  <a:pt x="9147859" y="5647357"/>
                </a:lnTo>
                <a:lnTo>
                  <a:pt x="0" y="56473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641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000" r="0" b="-44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4579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Core idea of the MC control algorithm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43175" y="2218880"/>
            <a:ext cx="7486660" cy="1678405"/>
            <a:chOff x="0" y="0"/>
            <a:chExt cx="9982213" cy="22378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82213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82213">
                  <a:moveTo>
                    <a:pt x="0" y="0"/>
                  </a:moveTo>
                  <a:lnTo>
                    <a:pt x="9982213" y="0"/>
                  </a:lnTo>
                  <a:lnTo>
                    <a:pt x="9982213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05837" y="2218880"/>
            <a:ext cx="165354" cy="1678405"/>
            <a:chOff x="0" y="0"/>
            <a:chExt cx="170688" cy="17325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91815" y="2944245"/>
            <a:ext cx="6583680" cy="708298"/>
            <a:chOff x="0" y="0"/>
            <a:chExt cx="8778240" cy="9443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Learning is based on complete episodes, not single-step updates.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91815" y="2368274"/>
            <a:ext cx="6583680" cy="452686"/>
            <a:chOff x="0" y="0"/>
            <a:chExt cx="8778240" cy="6035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603581"/>
            </a:xfrm>
            <a:custGeom>
              <a:avLst/>
              <a:gdLst/>
              <a:ahLst/>
              <a:cxnLst/>
              <a:rect r="r" b="b" t="t" l="l"/>
              <a:pathLst>
                <a:path h="603581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8778240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Episode-based learning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0513" y="4519318"/>
            <a:ext cx="7449322" cy="1678405"/>
            <a:chOff x="0" y="0"/>
            <a:chExt cx="9932429" cy="22378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32429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32429">
                  <a:moveTo>
                    <a:pt x="0" y="0"/>
                  </a:moveTo>
                  <a:lnTo>
                    <a:pt x="9932429" y="0"/>
                  </a:lnTo>
                  <a:lnTo>
                    <a:pt x="9932429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43175" y="4519318"/>
            <a:ext cx="165354" cy="1678405"/>
            <a:chOff x="0" y="0"/>
            <a:chExt cx="170688" cy="17325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29153" y="5245223"/>
            <a:ext cx="6583680" cy="708298"/>
            <a:chOff x="0" y="0"/>
            <a:chExt cx="8778240" cy="9443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Returns are computed backwards to estimate the future reward from each time step.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29153" y="4668712"/>
            <a:ext cx="6583680" cy="452686"/>
            <a:chOff x="0" y="0"/>
            <a:chExt cx="8778240" cy="6035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78240" cy="603581"/>
            </a:xfrm>
            <a:custGeom>
              <a:avLst/>
              <a:gdLst/>
              <a:ahLst/>
              <a:cxnLst/>
              <a:rect r="r" b="b" t="t" l="l"/>
              <a:pathLst>
                <a:path h="603581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778240" cy="603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Monte Carlo return computation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99880" y="6816848"/>
            <a:ext cx="7429955" cy="1678405"/>
            <a:chOff x="0" y="0"/>
            <a:chExt cx="9906607" cy="22378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06607" cy="2237874"/>
            </a:xfrm>
            <a:custGeom>
              <a:avLst/>
              <a:gdLst/>
              <a:ahLst/>
              <a:cxnLst/>
              <a:rect r="r" b="b" t="t" l="l"/>
              <a:pathLst>
                <a:path h="2237874" w="9906607">
                  <a:moveTo>
                    <a:pt x="0" y="0"/>
                  </a:moveTo>
                  <a:lnTo>
                    <a:pt x="9906607" y="0"/>
                  </a:lnTo>
                  <a:lnTo>
                    <a:pt x="9906607" y="2237874"/>
                  </a:lnTo>
                  <a:lnTo>
                    <a:pt x="0" y="22378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61844" y="6816848"/>
            <a:ext cx="168444" cy="1678405"/>
            <a:chOff x="0" y="0"/>
            <a:chExt cx="173877" cy="17325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3877" cy="1732547"/>
            </a:xfrm>
            <a:custGeom>
              <a:avLst/>
              <a:gdLst/>
              <a:ahLst/>
              <a:cxnLst/>
              <a:rect r="r" b="b" t="t" l="l"/>
              <a:pathLst>
                <a:path h="1732547" w="173877">
                  <a:moveTo>
                    <a:pt x="0" y="0"/>
                  </a:moveTo>
                  <a:lnTo>
                    <a:pt x="173877" y="0"/>
                  </a:lnTo>
                  <a:lnTo>
                    <a:pt x="173877" y="1732547"/>
                  </a:lnTo>
                  <a:lnTo>
                    <a:pt x="0" y="173254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29153" y="7045448"/>
            <a:ext cx="6706701" cy="452686"/>
            <a:chOff x="0" y="0"/>
            <a:chExt cx="8942269" cy="6035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42269" cy="603581"/>
            </a:xfrm>
            <a:custGeom>
              <a:avLst/>
              <a:gdLst/>
              <a:ahLst/>
              <a:cxnLst/>
              <a:rect r="r" b="b" t="t" l="l"/>
              <a:pathLst>
                <a:path h="603581" w="8942269">
                  <a:moveTo>
                    <a:pt x="0" y="0"/>
                  </a:moveTo>
                  <a:lnTo>
                    <a:pt x="8942269" y="0"/>
                  </a:lnTo>
                  <a:lnTo>
                    <a:pt x="8942269" y="603581"/>
                  </a:lnTo>
                  <a:lnTo>
                    <a:pt x="0" y="603581"/>
                  </a:lnTo>
                  <a:close/>
                </a:path>
              </a:pathLst>
            </a:custGeom>
            <a:solidFill>
              <a:srgbClr val="0D9488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8942269" cy="613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First-visit Q update with decaying exploration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10103" y="7621958"/>
            <a:ext cx="6583680" cy="708298"/>
            <a:chOff x="0" y="0"/>
            <a:chExt cx="8778240" cy="9443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944397"/>
            </a:xfrm>
            <a:custGeom>
              <a:avLst/>
              <a:gdLst/>
              <a:ahLst/>
              <a:cxnLst/>
              <a:rect r="r" b="b" t="t" l="l"/>
              <a:pathLst>
                <a:path h="944397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44397"/>
                  </a:lnTo>
                  <a:lnTo>
                    <a:pt x="0" y="944397"/>
                  </a:lnTo>
                  <a:close/>
                </a:path>
              </a:pathLst>
            </a:custGeom>
            <a:solidFill>
              <a:srgbClr val="F8FAFC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778240" cy="9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Q-values are updated from first-visit returns, while epsilon gradually shifts behaviour from exploration to exploitation.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028700" y="1546109"/>
            <a:ext cx="8339241" cy="7880583"/>
          </a:xfrm>
          <a:custGeom>
            <a:avLst/>
            <a:gdLst/>
            <a:ahLst/>
            <a:cxnLst/>
            <a:rect r="r" b="b" t="t" l="l"/>
            <a:pathLst>
              <a:path h="7880583" w="8339241">
                <a:moveTo>
                  <a:pt x="0" y="0"/>
                </a:moveTo>
                <a:lnTo>
                  <a:pt x="8339241" y="0"/>
                </a:lnTo>
                <a:lnTo>
                  <a:pt x="8339241" y="7880582"/>
                </a:lnTo>
                <a:lnTo>
                  <a:pt x="0" y="7880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01600" y="-1828800"/>
            <a:ext cx="9144000" cy="9144000"/>
            <a:chOff x="0" y="0"/>
            <a:chExt cx="12192000" cy="1219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0D9488">
                <a:alpha val="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49821" y="2743200"/>
            <a:ext cx="738908" cy="1122650"/>
          </a:xfrm>
          <a:custGeom>
            <a:avLst/>
            <a:gdLst/>
            <a:ahLst/>
            <a:cxnLst/>
            <a:rect r="r" b="b" t="t" l="l"/>
            <a:pathLst>
              <a:path h="1122650" w="738908">
                <a:moveTo>
                  <a:pt x="0" y="0"/>
                </a:moveTo>
                <a:lnTo>
                  <a:pt x="738908" y="0"/>
                </a:lnTo>
                <a:lnTo>
                  <a:pt x="738908" y="1122650"/>
                </a:lnTo>
                <a:lnTo>
                  <a:pt x="0" y="112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80160" y="4023360"/>
            <a:ext cx="16459200" cy="1463040"/>
            <a:chOff x="0" y="0"/>
            <a:chExt cx="219456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11111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Section II: The 3 Grids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5486400"/>
            <a:ext cx="12801600" cy="914400"/>
            <a:chOff x="0" y="0"/>
            <a:chExt cx="170688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068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Creation of maps: Progressively more complex testing grounds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 •  Machine Learning (Advanced)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7827745" cy="1005840"/>
            <a:chOff x="0" y="0"/>
            <a:chExt cx="10436993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36993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36993">
                  <a:moveTo>
                    <a:pt x="0" y="0"/>
                  </a:moveTo>
                  <a:lnTo>
                    <a:pt x="10436993" y="0"/>
                  </a:lnTo>
                  <a:lnTo>
                    <a:pt x="10436993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-105594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36993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3 Grids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84659" y="2008613"/>
            <a:ext cx="3628655" cy="5931467"/>
          </a:xfrm>
          <a:custGeom>
            <a:avLst/>
            <a:gdLst/>
            <a:ahLst/>
            <a:cxnLst/>
            <a:rect r="r" b="b" t="t" l="l"/>
            <a:pathLst>
              <a:path h="5931467" w="3628655">
                <a:moveTo>
                  <a:pt x="0" y="0"/>
                </a:moveTo>
                <a:lnTo>
                  <a:pt x="3628655" y="0"/>
                </a:lnTo>
                <a:lnTo>
                  <a:pt x="3628655" y="5931467"/>
                </a:lnTo>
                <a:lnTo>
                  <a:pt x="0" y="5931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332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54455" y="1976828"/>
            <a:ext cx="3647738" cy="5963252"/>
          </a:xfrm>
          <a:custGeom>
            <a:avLst/>
            <a:gdLst/>
            <a:ahLst/>
            <a:cxnLst/>
            <a:rect r="r" b="b" t="t" l="l"/>
            <a:pathLst>
              <a:path h="5963252" w="3647738">
                <a:moveTo>
                  <a:pt x="0" y="0"/>
                </a:moveTo>
                <a:lnTo>
                  <a:pt x="3647737" y="0"/>
                </a:lnTo>
                <a:lnTo>
                  <a:pt x="3647737" y="5963252"/>
                </a:lnTo>
                <a:lnTo>
                  <a:pt x="0" y="59632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364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43333" y="2008613"/>
            <a:ext cx="6081627" cy="5963252"/>
          </a:xfrm>
          <a:custGeom>
            <a:avLst/>
            <a:gdLst/>
            <a:ahLst/>
            <a:cxnLst/>
            <a:rect r="r" b="b" t="t" l="l"/>
            <a:pathLst>
              <a:path h="5963252" w="6081627">
                <a:moveTo>
                  <a:pt x="0" y="0"/>
                </a:moveTo>
                <a:lnTo>
                  <a:pt x="6081627" y="0"/>
                </a:lnTo>
                <a:lnTo>
                  <a:pt x="6081627" y="5963252"/>
                </a:lnTo>
                <a:lnTo>
                  <a:pt x="0" y="59632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3726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883698" y="392206"/>
            <a:ext cx="1855662" cy="1061309"/>
          </a:xfrm>
          <a:custGeom>
            <a:avLst/>
            <a:gdLst/>
            <a:ahLst/>
            <a:cxnLst/>
            <a:rect r="r" b="b" t="t" l="l"/>
            <a:pathLst>
              <a:path h="1061309" w="1855662">
                <a:moveTo>
                  <a:pt x="0" y="0"/>
                </a:moveTo>
                <a:lnTo>
                  <a:pt x="1855662" y="0"/>
                </a:lnTo>
                <a:lnTo>
                  <a:pt x="1855662" y="1061309"/>
                </a:lnTo>
                <a:lnTo>
                  <a:pt x="0" y="1061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827988" y="8282980"/>
            <a:ext cx="1389647" cy="640080"/>
            <a:chOff x="0" y="0"/>
            <a:chExt cx="1852863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2863" cy="853440"/>
            </a:xfrm>
            <a:custGeom>
              <a:avLst/>
              <a:gdLst/>
              <a:ahLst/>
              <a:cxnLst/>
              <a:rect r="r" b="b" t="t" l="l"/>
              <a:pathLst>
                <a:path h="853440" w="1852863">
                  <a:moveTo>
                    <a:pt x="0" y="0"/>
                  </a:moveTo>
                  <a:lnTo>
                    <a:pt x="1852863" y="0"/>
                  </a:lnTo>
                  <a:lnTo>
                    <a:pt x="1852863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-294805" b="-11701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852863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Level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0" y="8282980"/>
            <a:ext cx="1389647" cy="640080"/>
            <a:chOff x="0" y="0"/>
            <a:chExt cx="1852863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52863" cy="853440"/>
            </a:xfrm>
            <a:custGeom>
              <a:avLst/>
              <a:gdLst/>
              <a:ahLst/>
              <a:cxnLst/>
              <a:rect r="r" b="b" t="t" l="l"/>
              <a:pathLst>
                <a:path h="853440" w="1852863">
                  <a:moveTo>
                    <a:pt x="0" y="0"/>
                  </a:moveTo>
                  <a:lnTo>
                    <a:pt x="1852863" y="0"/>
                  </a:lnTo>
                  <a:lnTo>
                    <a:pt x="1852863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-294805" b="-1170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852863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Level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89323" y="8282980"/>
            <a:ext cx="1389647" cy="640080"/>
            <a:chOff x="0" y="0"/>
            <a:chExt cx="1852863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52863" cy="853440"/>
            </a:xfrm>
            <a:custGeom>
              <a:avLst/>
              <a:gdLst/>
              <a:ahLst/>
              <a:cxnLst/>
              <a:rect r="r" b="b" t="t" l="l"/>
              <a:pathLst>
                <a:path h="853440" w="1852863">
                  <a:moveTo>
                    <a:pt x="0" y="0"/>
                  </a:moveTo>
                  <a:lnTo>
                    <a:pt x="1852863" y="0"/>
                  </a:lnTo>
                  <a:lnTo>
                    <a:pt x="1852863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-294805" b="-1170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852863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Level 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01600" y="-1828800"/>
            <a:ext cx="9144000" cy="9144000"/>
            <a:chOff x="0" y="0"/>
            <a:chExt cx="12192000" cy="1219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0D9488">
                <a:alpha val="117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4023360"/>
            <a:ext cx="16459200" cy="1463040"/>
            <a:chOff x="0" y="0"/>
            <a:chExt cx="21945600" cy="1950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11111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Section III: Results &amp; Discussion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0160" y="5486400"/>
            <a:ext cx="12801600" cy="914400"/>
            <a:chOff x="0" y="0"/>
            <a:chExt cx="170688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068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did we perform? Results, Comparisons and Conclusions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 •  Machine Learning (Advanced)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2743200"/>
            <a:ext cx="1097280" cy="1097280"/>
            <a:chOff x="0" y="0"/>
            <a:chExt cx="1463040" cy="146304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7098" y="616825"/>
            <a:ext cx="7161217" cy="920193"/>
            <a:chOff x="0" y="0"/>
            <a:chExt cx="10436993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36993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36993">
                  <a:moveTo>
                    <a:pt x="0" y="0"/>
                  </a:moveTo>
                  <a:lnTo>
                    <a:pt x="10436993" y="0"/>
                  </a:lnTo>
                  <a:lnTo>
                    <a:pt x="10436993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-105594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436993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Results Grid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892842" y="169164"/>
            <a:ext cx="12962439" cy="9948672"/>
          </a:xfrm>
          <a:custGeom>
            <a:avLst/>
            <a:gdLst/>
            <a:ahLst/>
            <a:cxnLst/>
            <a:rect r="r" b="b" t="t" l="l"/>
            <a:pathLst>
              <a:path h="9948672" w="12962439">
                <a:moveTo>
                  <a:pt x="0" y="0"/>
                </a:moveTo>
                <a:lnTo>
                  <a:pt x="12962439" y="0"/>
                </a:lnTo>
                <a:lnTo>
                  <a:pt x="12962439" y="9948672"/>
                </a:lnTo>
                <a:lnTo>
                  <a:pt x="0" y="9948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7098" y="2206040"/>
            <a:ext cx="4097165" cy="538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7 -8 Steps for starting point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137.79 seconds of runtime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agent finds near-optimal paths from any point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Effective learning from the environment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Good estimation of the Q function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Fast Convergence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Stable and short paths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7098" y="1479868"/>
            <a:ext cx="409716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i="true">
                <a:solidFill>
                  <a:srgbClr val="94A3B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1 000 000 episodes, ε from 0.4 ⟶ 0.01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902367" y="185706"/>
            <a:ext cx="12919843" cy="9932130"/>
          </a:xfrm>
          <a:custGeom>
            <a:avLst/>
            <a:gdLst/>
            <a:ahLst/>
            <a:cxnLst/>
            <a:rect r="r" b="b" t="t" l="l"/>
            <a:pathLst>
              <a:path h="9932130" w="12919843">
                <a:moveTo>
                  <a:pt x="0" y="0"/>
                </a:moveTo>
                <a:lnTo>
                  <a:pt x="12919844" y="0"/>
                </a:lnTo>
                <a:lnTo>
                  <a:pt x="12919844" y="9932130"/>
                </a:lnTo>
                <a:lnTo>
                  <a:pt x="0" y="9932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7098" y="2206040"/>
            <a:ext cx="4097165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8 - 9 Steps for starting point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190.77 seconds of runtime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agent finds valid paths from all starting positions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</a:t>
            </a: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ths are slightly longer due to increased obstacle complexity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agent successfully navigates through narrow corridors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Stable policy despite a more complex environment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Moderate convergence time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47098" y="616825"/>
            <a:ext cx="7161217" cy="920193"/>
            <a:chOff x="0" y="0"/>
            <a:chExt cx="10436993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36993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36993">
                  <a:moveTo>
                    <a:pt x="0" y="0"/>
                  </a:moveTo>
                  <a:lnTo>
                    <a:pt x="10436993" y="0"/>
                  </a:lnTo>
                  <a:lnTo>
                    <a:pt x="10436993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-105594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436993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Results Grid 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47098" y="1479868"/>
            <a:ext cx="409716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i="true">
                <a:solidFill>
                  <a:srgbClr val="94A3B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1 000 000 episodes, ε from 0.4 ⟶ 0.01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083209" y="166878"/>
            <a:ext cx="8593260" cy="9891522"/>
          </a:xfrm>
          <a:custGeom>
            <a:avLst/>
            <a:gdLst/>
            <a:ahLst/>
            <a:cxnLst/>
            <a:rect r="r" b="b" t="t" l="l"/>
            <a:pathLst>
              <a:path h="9891522" w="8593260">
                <a:moveTo>
                  <a:pt x="0" y="0"/>
                </a:moveTo>
                <a:lnTo>
                  <a:pt x="8593260" y="0"/>
                </a:lnTo>
                <a:lnTo>
                  <a:pt x="8593260" y="9891522"/>
                </a:lnTo>
                <a:lnTo>
                  <a:pt x="0" y="9891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7098" y="2206040"/>
            <a:ext cx="7814923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9 -12 Steps for starting point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322</a:t>
            </a: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.42 seconds of runtime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agent finds valid paths from all starting positions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</a:t>
            </a: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avigation is more constrained due to high obstacle density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</a:t>
            </a: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 agent must follow narrow and complex corridors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Slow convergence</a:t>
            </a:r>
          </a:p>
          <a:p>
            <a:pPr algn="l">
              <a:lnSpc>
                <a:spcPts val="2639"/>
              </a:lnSpc>
            </a:pP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More variability in paths (calculated risk restart: model gambles)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47098" y="616825"/>
            <a:ext cx="7161217" cy="920193"/>
            <a:chOff x="0" y="0"/>
            <a:chExt cx="10436993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36993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36993">
                  <a:moveTo>
                    <a:pt x="0" y="0"/>
                  </a:moveTo>
                  <a:lnTo>
                    <a:pt x="10436993" y="0"/>
                  </a:lnTo>
                  <a:lnTo>
                    <a:pt x="10436993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-105594" b="-2617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436993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Results Grid 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9473" y="6965031"/>
            <a:ext cx="8028347" cy="2876171"/>
            <a:chOff x="0" y="0"/>
            <a:chExt cx="10704463" cy="383489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704463" cy="3834894"/>
              <a:chOff x="0" y="0"/>
              <a:chExt cx="10704463" cy="38348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04463" cy="3834894"/>
              </a:xfrm>
              <a:custGeom>
                <a:avLst/>
                <a:gdLst/>
                <a:ahLst/>
                <a:cxnLst/>
                <a:rect r="r" b="b" t="t" l="l"/>
                <a:pathLst>
                  <a:path h="3834894" w="10704463">
                    <a:moveTo>
                      <a:pt x="0" y="0"/>
                    </a:moveTo>
                    <a:lnTo>
                      <a:pt x="10704463" y="0"/>
                    </a:lnTo>
                    <a:lnTo>
                      <a:pt x="10704463" y="3834894"/>
                    </a:lnTo>
                    <a:lnTo>
                      <a:pt x="0" y="3834894"/>
                    </a:lnTo>
                    <a:close/>
                  </a:path>
                </a:pathLst>
              </a:custGeom>
              <a:solidFill>
                <a:srgbClr val="0F1B2D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79857" y="1157963"/>
              <a:ext cx="9744750" cy="1979985"/>
              <a:chOff x="0" y="0"/>
              <a:chExt cx="9744750" cy="197998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744750" cy="1979985"/>
              </a:xfrm>
              <a:custGeom>
                <a:avLst/>
                <a:gdLst/>
                <a:ahLst/>
                <a:cxnLst/>
                <a:rect r="r" b="b" t="t" l="l"/>
                <a:pathLst>
                  <a:path h="1979985" w="9744750">
                    <a:moveTo>
                      <a:pt x="0" y="0"/>
                    </a:moveTo>
                    <a:lnTo>
                      <a:pt x="9744750" y="0"/>
                    </a:lnTo>
                    <a:lnTo>
                      <a:pt x="9744750" y="1979985"/>
                    </a:lnTo>
                    <a:lnTo>
                      <a:pt x="0" y="197998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18396" r="-87670" b="-141548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9744750" cy="2027610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just">
                  <a:lnSpc>
                    <a:spcPts val="2760"/>
                  </a:lnSpc>
                </a:pPr>
                <a:r>
                  <a:rPr lang="en-US" sz="2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Monte Carlo control successfully learns near-optimal policies in all environments, but its efficiency decreases as the environment becomes more complex, leading to longer paths and higher computational cost.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79857" y="245979"/>
              <a:ext cx="8187370" cy="708718"/>
              <a:chOff x="0" y="0"/>
              <a:chExt cx="8187370" cy="70871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87369" cy="708718"/>
              </a:xfrm>
              <a:custGeom>
                <a:avLst/>
                <a:gdLst/>
                <a:ahLst/>
                <a:cxnLst/>
                <a:rect r="r" b="b" t="t" l="l"/>
                <a:pathLst>
                  <a:path h="708718" w="8187369">
                    <a:moveTo>
                      <a:pt x="0" y="0"/>
                    </a:moveTo>
                    <a:lnTo>
                      <a:pt x="8187369" y="0"/>
                    </a:lnTo>
                    <a:lnTo>
                      <a:pt x="8187369" y="708718"/>
                    </a:lnTo>
                    <a:lnTo>
                      <a:pt x="0" y="70871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0685" r="28522" b="-121105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8187370" cy="7277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00"/>
                  </a:lnSpc>
                </a:pPr>
                <a:r>
                  <a:rPr lang="en-US" sz="2500" b="true">
                    <a:solidFill>
                      <a:srgbClr val="FFFFFF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Overall Conclusion of Results</a:t>
                </a: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647098" y="1479868"/>
            <a:ext cx="409716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i="true">
                <a:solidFill>
                  <a:srgbClr val="94A3B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1 000 000 episodes, ε from 0.4 ⟶ 0.01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57200"/>
            <a:ext cx="16093440" cy="1005840"/>
            <a:chOff x="0" y="0"/>
            <a:chExt cx="214579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B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Discussion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2801600" cy="548640"/>
            <a:chOff x="0" y="0"/>
            <a:chExt cx="170688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DNDS5019 • Machine Learning (Advanced)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24960" y="9509760"/>
            <a:ext cx="914400" cy="548640"/>
            <a:chOff x="0" y="0"/>
            <a:chExt cx="121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9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011680"/>
            <a:ext cx="7589520" cy="7125889"/>
            <a:chOff x="0" y="0"/>
            <a:chExt cx="10119360" cy="95011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19360" cy="9501185"/>
            </a:xfrm>
            <a:custGeom>
              <a:avLst/>
              <a:gdLst/>
              <a:ahLst/>
              <a:cxnLst/>
              <a:rect r="r" b="b" t="t" l="l"/>
              <a:pathLst>
                <a:path h="9501185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501185"/>
                  </a:lnTo>
                  <a:lnTo>
                    <a:pt x="0" y="95011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011680"/>
            <a:ext cx="7589520" cy="914400"/>
            <a:chOff x="0" y="0"/>
            <a:chExt cx="1011936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F1B2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54480" y="2103120"/>
            <a:ext cx="6400800" cy="731520"/>
            <a:chOff x="0" y="0"/>
            <a:chExt cx="85344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5344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Conclusions &amp; observations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69680" y="4937760"/>
            <a:ext cx="640080" cy="640080"/>
            <a:chOff x="0" y="0"/>
            <a:chExt cx="853440" cy="85344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92640" y="2011680"/>
            <a:ext cx="7589520" cy="7125889"/>
            <a:chOff x="0" y="0"/>
            <a:chExt cx="10119360" cy="95011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19360" cy="9501185"/>
            </a:xfrm>
            <a:custGeom>
              <a:avLst/>
              <a:gdLst/>
              <a:ahLst/>
              <a:cxnLst/>
              <a:rect r="r" b="b" t="t" l="l"/>
              <a:pathLst>
                <a:path h="9501185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501185"/>
                  </a:lnTo>
                  <a:lnTo>
                    <a:pt x="0" y="95011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92640" y="2011680"/>
            <a:ext cx="7589520" cy="914400"/>
            <a:chOff x="0" y="0"/>
            <a:chExt cx="1011936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49840" y="2103120"/>
            <a:ext cx="6400800" cy="731520"/>
            <a:chOff x="0" y="0"/>
            <a:chExt cx="853440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5344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Difficulties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21240" y="3053715"/>
            <a:ext cx="7132320" cy="401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Tuning ε to balance exploration and exploitation across each grid.</a:t>
            </a:r>
          </a:p>
          <a:p>
            <a:pPr algn="l">
              <a:lnSpc>
                <a:spcPts val="3040"/>
              </a:lnSpc>
            </a:pP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Modifying the code to make the check of a state being the first-visit more efficient.</a:t>
            </a:r>
          </a:p>
          <a:p>
            <a:pPr algn="l">
              <a:lnSpc>
                <a:spcPts val="1760"/>
              </a:lnSpc>
            </a:pPr>
          </a:p>
          <a:p>
            <a:pPr algn="l" marL="1036320" indent="-345440" lvl="2">
              <a:lnSpc>
                <a:spcPts val="3840"/>
              </a:lnSpc>
              <a:buFont typeface="Arial"/>
              <a:buChar char="⚬"/>
            </a:pPr>
            <a:r>
              <a:rPr lang="en-US" sz="2400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 ended up opting to compute the G vector separately and then apply it from 0 to T to first-visited states.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3034665"/>
            <a:ext cx="7419975" cy="644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Monte Carlo control successfully learned valid policies in all three grids.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agent reached the target from every starting position.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As grid complexity inc</a:t>
            </a:r>
            <a:r>
              <a:rPr lang="en-US" sz="23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reased, paths became longer and runtime increased significantly.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Overall, the method is robust, but its efficiency decreases as obstacle density grows.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When faced against harder, less optimized starting positions, sometimes the model performs a calculated-risk restart, gambling to respawn on a better starting position by sacrificing a move.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DAHE4jGgtoY</dc:identifier>
  <dcterms:modified xsi:type="dcterms:W3CDTF">2011-08-01T06:04:30Z</dcterms:modified>
  <cp:revision>1</cp:revision>
  <dc:title>Project 2 - Adv ML</dc:title>
</cp:coreProperties>
</file>